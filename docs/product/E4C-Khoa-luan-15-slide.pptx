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 (~30s): Chào hội đồng &amp; nêu đúng tên đề tài.
NÓI: "Kính chào quý thầy cô. Em là Phan Duy, xin trình bày khóa luận English for Community — nền tảng học tiếng Anh cộng đồng tích hợp AI, gồm app mobile cho học sinh và web cho giáo viên/admin."
LƯU Ý: Điền tên GVHD, trường, tháng bảo vệ. Đứng thẳng, chưa vội chuyển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'bán' lý do đề tài.
NÓI: nêu 3 vấn đề bên trái → chốt 'vì vậy em xây dựng E4C' → đọc lướt 3 mục tiêu, nhấn mạnh 'đã triển khai thật, không chỉ chạy máy ảo'.
Q&amp;A: nếu hỏi khác Duolingo chỗ nào → để dành trả lời ở slide Khảo 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Trả lời câu 'khác gì app có sẵn'.
NÓI: 'Mỗi công cụ mạnh một mảng: Duolingo tự học, ELSA phát âm, Google Classroom quản lớp. E4C kết hợp cả ba với AI trong cùng một app đa vai trò.'
TRUNG THỰC: điểm mạnh là tính TÍCH HỢP, không phải khối lượng nội 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Phân tích actor + bảo mật.
NÓI: 'Toàn hệ thống dùng MỘT app Flutter. Sau đăng nhập, GoRouter đọc trường role và điều hướng đến workspace tương ứng.'
Nhấn: 'Bảo mật 2 lớp — server quyết định, client chỉ chặn phụ; không tin client.'
Q&amp;A: 'Chặn ở client an toàn?' → Không; mọi API kiểm JWT + permission ở server, GoRouter chỉ là lớp UX thứ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Đọc từ trên xuống theo tầng.
NÓI: 'Client Flutter theo Clean Architecture, tách UI–logic–data. Giao tiếp backend qua HTTPS có JWT và WebSocket cho realtime. Backend Express theo MVC + Service, nối MongoDB Atlas, Cloudinary lưu media, Firebase cho auth/push.'
Q&amp;A: 'Vì sao MongoDB không SQL?' → dữ liệu bài học/đề thi dạng document lồng nhau (skills, cues, options) linh hoạt; có Mongoose ràng buộc.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ĐỪNG đọc hết. Lướt 3 nhóm, dừng ở AI.
NÓI: 'Frontend Flutter với BLoC + GoRouter; backend Node/Express + MongoDB; realtime Socket.IO hai đầu. Đáng chú ý là tầng AI — đa provider Gemini/OpenAI/Groq và VAPI cho voice.'
Q&amp;A: 'Vì sao nhiều AI provider?' → dự phòng khi 1 provider lỗi/hết quota + tối ưu chi phí/tốc độ theo tác vụ.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ERD rút gọn — đừng liệt kê 32 model.
NÓI: 'CSDL gồm 32 model. Luồng chính: User tham gia Classroom, giáo viên tạo Exam, học sinh sinh ra ExamAttempt. Hàng dưới là nhóm phụ trợ: nội dung 5 kỹ năng, từ vựng, thông báo, đơn giáo viên.'
Nếu hỏi chi tiết → mở phụ lục báo cáo giấy có bảng đầy đủ.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sản phẩm — để screenshot nói thay lời.
CHUẨN BỊ ẢNH: 1 ảnh Home + (nếu kịp) 1 ảnh màn Viết có AI diff, khung dọc 9:19.
NÓI: lướt 4 kỹ năng, dừng ở NÓI (voice-AI VAPI) và VIẾT (AI chấm + diff). 'Từ điển tra được cả khi offline nhờ SQLite.'
Q&amp;A: 'AI chấm chính xác không?' → là gợi ý cho người học; với bài thi trong lớp AI chỉ chấm nháp, giáo viên chốt điểm.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 — PHẦN LÕI tạo khác biệt, dành nhiều thời gian.
CHUẨN BỊ ẢNH: màn Live monitor phiên thi (đẹp nhất) hoặc Gradebook.
NÓI: đi theo pipeline trái→phải một hơi; nhấn 3 ý: realtime, AI-nháp-GV-chốt, chống gian lận.
Q&amp;A: 'Đồng bộ thời gian thi?' → server quyết (server-authoritative). 'Mất mạng giữa chừng?' → bài lưu theo lượt, vào lại tiếp tục.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Nói gọn, phần vận hành.
NÓI: 'Admin quản CMS, người dùng, duyệt giáo viên và có audit log. Điểm kỹ thuật bên phải: hệ thống phát hành app theo state machine — CI tạo bản ứng viên, admin duyệt rồi phát hành, app tự nhắc cập nhật.'
Q&amp;A: 'Force update để làm gì?' → khi có bản vá bảo mật/lỗi nghiêm trọng, chặn dùng bản cũ.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'khoe' năng lực — nói dõng dạc.
NÓI: không đọc hết 6 ô; nhấn AI, Realtime, JWT dual-token — ba thứ khó nhất. Kết: 'toàn bộ đạt 0 error, 0 warning qua phân tích tĩnh.'
Q&amp;A: 'Dual-token là gì?' → access token hết hạn nhanh cho an toàn; refresh token gia hạn tự động qua Dio interceptor, người dùng không bị đăng xuất giữa chừng.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~3–4 phút — PHẦN QUAN TRỌNG NHẤT.
KỊCH BẢN BẤM: (1) đăng nhập tài khoản học sinh đã seed dữ liệu → (2) mở màn Viết, nộp đoạn ngắn để lộ AI feedback → (3) chuyển tài khoản giáo viên (2 thiết bị/2 tab), mở phiên thi để thấy học sinh vào lobby → (4) chấm 1 bài, phát điểm.
BẮT BUỘC: mở sẵn app + đăng nhập trước khi lên; seed sẵn tài khoản/đề thi. PHÁT VIDEO nếu mạng chậm.
Mẹo: vừa thao tác vừa thuyết minh, đừng im lặng chờ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Cho cảm nhận khối lượng — đừng đọc từng số.
NÓI: 'Khoảng 110.000 dòng code trong ~8 tháng, tổ chức thành 14 module, 32 model, 21 route API; phần lớn là Flutter như biểu đồ. Toàn bộ đạt 0 error, 0 warning.'
TRUNG THỰC: đây là quy mô &amp; chất lượng tĩnh, chưa phải độ phủ test — nói thẳng ở slide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SỰ TRUNG THỰC ở đây ghi điểm.
NÓI: 'Em xin nêu thẳng hạn chế: chưa có E2E test, CI/CD mới một phần, chưa lên iOS. Đây cũng là hướng phát triển tiếp theo, cùng dashboard phân tích cho giáo viên.'
BẪY: hỏi 'đã test chưa' → đừng chối; nói rõ đang test thủ công + QA, E2E là việc kế tiếp.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 + Q&amp;A.
NÓI: tóm 4 ý trong 2 câu → 'Em xin hết phần trình bày, kính mong quý thầy cô góp ý ạ.'
CÂU HỎI LUYỆN TRƯỚC:
• Vì sao MongoDB thay vì SQL? • Bảo mật token &amp; mật khẩu (JWT + bcrypt + OTP TTL)?
• Chống gian lận khi thi? • AI chấm sai xử lý sao (GV chốt điểm)?
• Vì sao nhiều AI provider? • Đã kiểm thử chưa (thủ công/QA; E2E là hướng phát triển)?
• Khác gì Duolingo/ELSA (tích hợp lớp–thi–AI trong 1 app)? • Mở rộng khi đông user?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03120"/>
            <a:ext cx="6858000" cy="6858000"/>
          </a:xfrm>
          <a:prstGeom prst="ellipse">
            <a:avLst/>
          </a:prstGeom>
          <a:solidFill>
            <a:srgbClr val="2B528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E355C"/>
          </a:solidFill>
          <a:ln w="2540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95528" y="2240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KHÓA LUẬN TỐT NGHIỆP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257860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English for Community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95528" y="3520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D6A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Nền tảng học tiếng Anh cộng đồng tích hợp AI — Web &amp; Mobile đa vai trò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4297680"/>
            <a:ext cx="2468880" cy="457200"/>
          </a:xfrm>
          <a:prstGeom prst="roundRect">
            <a:avLst>
              <a:gd name="adj" fmla="val 50000"/>
            </a:avLst>
          </a:prstGeom>
          <a:ln w="12700">
            <a:solidFill>
              <a:srgbClr val="5C79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 kỹ năng + Từ vựng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93008" y="4297680"/>
            <a:ext cx="2651760" cy="457200"/>
          </a:xfrm>
          <a:prstGeom prst="roundRect">
            <a:avLst>
              <a:gd name="adj" fmla="val 50000"/>
            </a:avLst>
          </a:prstGeom>
          <a:ln w="12700">
            <a:solidFill>
              <a:srgbClr val="5C79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 chấm bài &amp; phát âm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73368" y="4297680"/>
            <a:ext cx="3200400" cy="457200"/>
          </a:xfrm>
          <a:prstGeom prst="roundRect">
            <a:avLst>
              <a:gd name="adj" fmla="val 50000"/>
            </a:avLst>
          </a:prstGeom>
          <a:ln w="12700">
            <a:solidFill>
              <a:srgbClr val="5C79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Giáo viên · Lớp · Thi realtime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SVTH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5742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Phan Duy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GVHD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93008" y="5742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[Thầy/Cô …]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0488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Đơn vị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0488" y="5742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Khoa CNTT — [Trường]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87968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Thời gian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87968" y="5742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…/2026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D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english4community.online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1 — ĐẶT VẤN ĐỀ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Vấn đề &amp;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Mục tiêu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đề tài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029968"/>
            <a:ext cx="155448" cy="155448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Vấn đề đặt 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Người học VN cần luyện đủ 4 kỹ năng nhưng công cụ rời rạc, ít cá nhân hóa.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App phổ biến mạnh 1–2 kỹ năng, ít gắn với lớp học – giáo viên – chấm bài thật.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 chưa được đưa sâu vào quy trình đánh giá (chấm viết, đánh giá phát âm).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029968"/>
            <a:ext cx="155448" cy="155448"/>
          </a:xfrm>
          <a:prstGeom prst="rect">
            <a:avLst/>
          </a:prstGeom>
          <a:solidFill>
            <a:srgbClr val="213D65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Mục tiêu &amp; phạm vi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146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Nền tảng full-stack: 4 kỹ năng + từ vựng, tích hợp AI, gamification.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 vai trò: Học sinh (mobile) · Giáo viên (web/tablet) · Admin.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Công nghệ: Flutter + Node.js + MongoDB; đã triển khai thật (Render + domain).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1 — KHẢO SÁT HIỆN TRẠNG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Giải pháp hiện có &amp;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điểm khác biệt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B84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Tiêu chí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84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Duolingo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84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ELSA Speak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84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Google Classroom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E4C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2D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Luyện đủ 4 kỹ năng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9D4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Một phần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9D4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Chỉ Nói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✓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AI chấm bài viết / phát âm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Phát âm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✓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Lớp học – giáo viên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✓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✓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Soạn đề · thi · chấm realtime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9D4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Cơ bản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✓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Đa vai trò trong 1 ứng dụng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46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✕</a:t>
                      </a:r>
                      <a:endParaRPr lang="en-US" sz="11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3D65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✓</a:t>
                      </a:r>
                      <a:endParaRPr lang="en-US" sz="1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gộp </a:t>
            </a:r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tự học có AI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và </a:t>
            </a:r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hệ thống lớp – thi – chấm realtime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trong </a:t>
            </a:r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một app đa vai trò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2 — PHÂN TÍCH YÊU CẦU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 vai trò &amp;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phân quyền (RBAC)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213D65"/>
          </a:solidFill>
          <a:ln w="12700">
            <a:solidFill>
              <a:srgbClr val="213D6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 App Flutter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D6A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Đăng nhập · JWT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999232"/>
            <a:ext cx="45720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931920" y="2331720"/>
            <a:ext cx="1325880" cy="1325880"/>
          </a:xfrm>
          <a:prstGeom prst="diamond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role?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49240" y="2999232"/>
            <a:ext cx="45720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0" y="1783080"/>
            <a:ext cx="4937760" cy="841248"/>
          </a:xfrm>
          <a:prstGeom prst="roundRect">
            <a:avLst>
              <a:gd name="adj" fmla="val 6522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Học sinh · user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Home — học 4 kỹ năng +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761488"/>
            <a:ext cx="4937760" cy="841248"/>
          </a:xfrm>
          <a:prstGeom prst="roundRect">
            <a:avLst>
              <a:gd name="adj" fmla="val 6522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Giáo viên · teacher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Dashboard — lớp &amp; thi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739896"/>
            <a:ext cx="4937760" cy="841248"/>
          </a:xfrm>
          <a:prstGeom prst="roundRect">
            <a:avLst>
              <a:gd name="adj" fmla="val 6522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Admin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Console — CMS &amp; vận hành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DE3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Bảo mật 2 lớp:  </a:t>
            </a:r>
            <a:pPr algn="ctr"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JWT + RBAC middleware (server – quyết định)  ·  GoRouter redirect (client – chặn sai route)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5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3 — THIẾT KẾ HỆ THỐNG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Kiến trúc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tổng thể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94560" y="187452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2B52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Flutter Client — Mobile &amp; Web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E2F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Clean Architecture: UI → BLoC → Repository → Datasource  ·  GoRouter  ·  GetIt DI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0760" y="2788920"/>
            <a:ext cx="0" cy="384048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309360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HTTPS · JWT · WebSocket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24612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213D6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Node.js Backend — Express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E2F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MVC + Service Layer  ·  REST API + Socket.IO  ·  Middleware Auth/RBAC  ·  Jobs (node-cron)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0760" y="4160520"/>
            <a:ext cx="0" cy="384048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194560" y="461772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MongoDB Atlas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CSDL chính · Mongoose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461772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Cloudinary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Ảnh · audio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461772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Firebase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Auth · FCM ·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6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3 — CÔNG NGHỆ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Công nghệ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sử dụng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3291840" cy="379476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697480"/>
            <a:ext cx="2788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Flutter · Dart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flutter_bloc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go_router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Dio + JWT interceptor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get_it (DI)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socket_io_client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Firebase · sqflite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fl_chart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2011680"/>
            <a:ext cx="3291840" cy="379476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2697480"/>
            <a:ext cx="2788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Node.js · Express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Mongoose (MongoDB)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Socket.IO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JWT · bcrypt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Zod (validation)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node-cron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Cloudinary · Nodemailer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2011680"/>
            <a:ext cx="3291840" cy="3794760"/>
          </a:xfrm>
          <a:prstGeom prst="roundRect">
            <a:avLst>
              <a:gd name="adj" fmla="val 1667"/>
            </a:avLst>
          </a:prstGeom>
          <a:solidFill>
            <a:srgbClr val="213D65"/>
          </a:solidFill>
          <a:ln w="12700">
            <a:solidFill>
              <a:srgbClr val="213D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Trí tuệ nhân tạo (AI)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2697480"/>
            <a:ext cx="2788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Google Gemini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OpenAI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Groq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VAPI — voice AI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5257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7D6A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Đa provider: chấm viết, đánh giá phát âm, trợ lý chat, hội thoại giọng nói.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7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3 — CƠ SỞ DỮ LIỆU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Thiết kế CSDL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(rút gọn)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User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role · điểm · OTP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514600"/>
            <a:ext cx="41148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57600" y="20574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Classroom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owner · mã mời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514600"/>
            <a:ext cx="41148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46520" y="20574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Exam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skills + grammar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2514600"/>
            <a:ext cx="41148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35440" y="20574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ExamAttempt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bài làm · điểm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Nội dung kỹ năng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Listen·Read·Write·Speak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4290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Word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từ vựng · SRS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Notification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FCM · socket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34290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TeacherApplication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đơn xin làm GV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32</a:t>
            </a:r>
            <a:pPr algn="ctr"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 Mongoose models — tổ chức quanh 5 nhóm: tài khoản · lớp/thi · nội dung 5 kỹ năng · tiến độ · vận hành.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8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4 — CHỨC NĂNG · HỌC SINH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Học sinh: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4 kỹ năng + AI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2743200" cy="379476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9050">
            <a:solidFill>
              <a:srgbClr val="C59D4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2377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📱</a:t>
            </a:r>
            <a:endParaRPr lang="en-US" sz="30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CHÈN ẢNH MOBILE</a:t>
            </a:r>
            <a:endParaRPr lang="en-US" sz="30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Home học sinh (4 kỹ năng + streak/điểm) hoặc màn Viết có AI feedback (diff text).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840480" y="201168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011680"/>
            <a:ext cx="73152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2" name="Text 10"/>
          <p:cNvSpPr/>
          <p:nvPr/>
        </p:nvSpPr>
        <p:spPr>
          <a:xfrm>
            <a:off x="4041648" y="21214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🎧  Nghe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41648" y="25146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Dictation điền chỗ trống + nghe hiểu MCQ, transcript theo cue.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01168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2011680"/>
            <a:ext cx="73152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6" name="Text 14"/>
          <p:cNvSpPr/>
          <p:nvPr/>
        </p:nvSpPr>
        <p:spPr>
          <a:xfrm>
            <a:off x="7836408" y="21214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🎙️  Nói   [AI · VAPI]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36408" y="25146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Read-aloud chấm WER (STT) + hội thoại tự do voice-AI.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24612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3246120"/>
            <a:ext cx="73152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0" name="Text 18"/>
          <p:cNvSpPr/>
          <p:nvPr/>
        </p:nvSpPr>
        <p:spPr>
          <a:xfrm>
            <a:off x="4041648" y="3355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📖  Đọc   [AI]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41648" y="3749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Bài đọc theo level + câu hỏi + phản hồi AI.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324612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3246120"/>
            <a:ext cx="73152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4" name="Text 22"/>
          <p:cNvSpPr/>
          <p:nvPr/>
        </p:nvSpPr>
        <p:spPr>
          <a:xfrm>
            <a:off x="7836408" y="3355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✍️  Viết   [AI]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836408" y="3749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 chấm grammar / structure / vocabulary + diff gợi ý sửa.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448056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4480560"/>
            <a:ext cx="73152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8" name="Text 26"/>
          <p:cNvSpPr/>
          <p:nvPr/>
        </p:nvSpPr>
        <p:spPr>
          <a:xfrm>
            <a:off x="4041648" y="4590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📚  Từ vựng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041648" y="49834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Từ điển offline (SQLite) + word bank + ôn tập SRS.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35240" y="448056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4480560"/>
            <a:ext cx="73152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2" name="Text 30"/>
          <p:cNvSpPr/>
          <p:nvPr/>
        </p:nvSpPr>
        <p:spPr>
          <a:xfrm>
            <a:off x="7836408" y="4590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🏆  Gamification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836408" y="49834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Điểm · streak · level · leaderboard · biểu đồ tuần.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9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4 — CHỨC NĂNG · GIÁO VIÊN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Giáo viên — Lớp —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Thi realtime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15361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Tạo lớp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mã mời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4086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69464" y="1965960"/>
            <a:ext cx="15361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Soạn đề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skills+grammar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52544" y="1965960"/>
            <a:ext cx="15361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Giao bài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lớp / link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0702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35624" y="1965960"/>
            <a:ext cx="1536192" cy="868680"/>
          </a:xfrm>
          <a:prstGeom prst="roundRect">
            <a:avLst>
              <a:gd name="adj" fmla="val 5263"/>
            </a:avLst>
          </a:prstGeom>
          <a:solidFill>
            <a:srgbClr val="FAF2DD"/>
          </a:solidFill>
          <a:ln w="12700">
            <a:solidFill>
              <a:srgbClr val="C59D4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Thi realtime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lobby→live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9010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918704" y="1965960"/>
            <a:ext cx="15361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Chấm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auto+AI+GV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7318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701784" y="1965960"/>
            <a:ext cx="15361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Gradebook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5943600" cy="2606040"/>
          </a:xfrm>
          <a:prstGeom prst="roundRect">
            <a:avLst>
              <a:gd name="adj" fmla="val 2807"/>
            </a:avLst>
          </a:prstGeom>
          <a:solidFill>
            <a:srgbClr val="F5F7FA"/>
          </a:solidFill>
          <a:ln w="19050">
            <a:solidFill>
              <a:srgbClr val="C59D4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05840" y="324612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🖥️</a:t>
            </a:r>
            <a:endParaRPr lang="en-US" sz="30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CHÈN ẢNH WEB / TABLET</a:t>
            </a:r>
            <a:endParaRPr lang="en-US" sz="30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Màn Live monitor phiên thi (danh sách học sinh + trạng thái) hoặc màn Gradebook chấm điểm.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342900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Thi realtime qua Socket.IO: lobby → live → kết thúc; giáo viên giám sát màn hình học sinh.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Chấm: auto (MCQ) · AI nháp (viết/nói) · giáo viên chốt điểm.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Chống gian lận: theo dõi rời tab &amp; copy-paste.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4 — CHỨC NĂNG · 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Admin &amp;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phát hành app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029968"/>
            <a:ext cx="155448" cy="155448"/>
          </a:xfrm>
          <a:prstGeom prst="rect">
            <a:avLst/>
          </a:prstGeom>
          <a:solidFill>
            <a:srgbClr val="213D6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Quản trị nền tảng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CMS nội dung cho cả 5 kỹ năng (bài giáo viên chọn khi soạn đề).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Quản lý user (ban/unban) · duyệt đơn giáo viên.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Moderation báo cáo vi phạm · audit log hành động admin.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029968"/>
            <a:ext cx="155448" cy="155448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Hệ thống cập nhật 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10515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5875">
            <a:solidFill>
              <a:srgbClr val="213D6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15784" y="2811780"/>
            <a:ext cx="201168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626096" y="2560320"/>
            <a:ext cx="1051560" cy="502920"/>
          </a:xfrm>
          <a:prstGeom prst="roundRect">
            <a:avLst>
              <a:gd name="adj" fmla="val 50909"/>
            </a:avLst>
          </a:prstGeom>
          <a:solidFill>
            <a:srgbClr val="C59D48"/>
          </a:solidFill>
          <a:ln w="15875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approved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0" y="2811780"/>
            <a:ext cx="201168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897112" y="2560320"/>
            <a:ext cx="10515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5875">
            <a:solidFill>
              <a:srgbClr val="213D6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published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957816" y="2811780"/>
            <a:ext cx="201168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168128" y="2560320"/>
            <a:ext cx="1051560" cy="502920"/>
          </a:xfrm>
          <a:prstGeom prst="roundRect">
            <a:avLst>
              <a:gd name="adj" fmla="val 50909"/>
            </a:avLst>
          </a:prstGeom>
          <a:solidFill>
            <a:srgbClr val="213D65"/>
          </a:solidFill>
          <a:ln w="15875">
            <a:solidFill>
              <a:srgbClr val="213D6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archived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34290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 tạo candidate → admin duyệt / publish / rollback.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Client kiểm phiên bản → cập nhật in-app (soft / force).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11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4 — ĐIỂM NHẤN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Điểm nổi bật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kỹ thuật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7249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 thực chiến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090672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Chấm viết, đánh giá phát âm (WER), trợ lý chat — đa provider + voice AI.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9976" y="2011680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194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08576" y="27249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Realtime Socket.IO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3090672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Phiên thi, giám sát, thông báo, bình luận — theo room, server-authoritative.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82712" y="2011680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194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11312" y="27249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JWT dual-token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11312" y="3090672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Access ngắn + refresh, interceptor tự gia hạn; RBAC theo permission.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959352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422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📴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5840" y="4672584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Hoạt động offline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038344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Từ điển SQLite ~5MB + secure storage token, chịu mất mạng.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959352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41422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608576" y="4672584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Đa ngôn ngữ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8576" y="5038344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 / VI hoàn chỉnh, ~1.000+ localization keys (ARB).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82712" y="3959352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41422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✅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11312" y="4672584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Chất lượng code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11312" y="5038344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flutter analyze: 0 error · 0 warning; Clean Architecture + DI.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D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2D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DEMO</a:t>
            </a:r>
            <a:pPr indent="0" marL="0">
              <a:buNone/>
            </a:pPr>
            <a:r>
              <a:rPr lang="en-US" sz="5400" b="1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777240" y="3291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493008"/>
            <a:ext cx="457200" cy="45720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8408" y="39776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Đăng nhập học sinh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78408" y="431596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3E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Vào Home — điểm, streak, 4 kỹ năng.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93008" y="3291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3493008"/>
            <a:ext cx="457200" cy="45720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94176" y="39776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Làm bài có AI chấm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94176" y="431596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3E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Viết/Nói → nhận feedback AI tức thì.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3291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3493008"/>
            <a:ext cx="457200" cy="45720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39776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Giáo viên mở phiên thi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9944" y="431596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3E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Lobby → live, giám sát realtime.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24544" y="3291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3493008"/>
            <a:ext cx="457200" cy="45720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25712" y="39776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Chấm &amp; phát điểm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25712" y="431596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3E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 nháp → GV chốt → gradebook.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D6A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⚠  Luôn có VIDEO quay sẵn 3–4 phút dự phòng — không phụ thuộc mạng/thiết bị tại hội đồng.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13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6 — ĐÁNH GIÁ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Kết quả &amp;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quy mô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110.200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78408" y="2679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dòng code · ~8 tháng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1568" y="19659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602736" y="2679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file Dart · 161 file 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19659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32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227064" y="2679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Mongoose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50224" y="19659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1392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851392" y="2679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module · 30 BLoC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24612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39242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21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78408" y="3959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route API · 46 service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1568" y="324612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02736" y="339242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5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3602736" y="3959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kỹ năng · 3 vai trò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25896" y="324612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339242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227064" y="3959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 provider (+ voice)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50224" y="324612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51392" y="339242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 / 0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8851392" y="3959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error / warning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470916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Phân bố dòng code theo thành phần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5239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Flutter (Dart)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108960" y="5257800"/>
            <a:ext cx="7680960" cy="310896"/>
          </a:xfrm>
          <a:prstGeom prst="roundRect">
            <a:avLst>
              <a:gd name="adj" fmla="val 11765"/>
            </a:avLst>
          </a:prstGeom>
          <a:solidFill>
            <a:srgbClr val="EDF1F7"/>
          </a:solidFill>
          <a:ln/>
        </p:spPr>
      </p:sp>
      <p:sp>
        <p:nvSpPr>
          <p:cNvPr id="36" name="Shape 34"/>
          <p:cNvSpPr/>
          <p:nvPr/>
        </p:nvSpPr>
        <p:spPr>
          <a:xfrm>
            <a:off x="3108960" y="5257800"/>
            <a:ext cx="7680960" cy="310896"/>
          </a:xfrm>
          <a:prstGeom prst="roundRect">
            <a:avLst>
              <a:gd name="adj" fmla="val 11765"/>
            </a:avLst>
          </a:prstGeom>
          <a:solidFill>
            <a:srgbClr val="213D65"/>
          </a:solidFill>
          <a:ln/>
        </p:spPr>
      </p:sp>
      <p:sp>
        <p:nvSpPr>
          <p:cNvPr id="37" name="Text 35"/>
          <p:cNvSpPr/>
          <p:nvPr/>
        </p:nvSpPr>
        <p:spPr>
          <a:xfrm>
            <a:off x="3108960" y="5257800"/>
            <a:ext cx="7571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89.800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5669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Backend (Node.js)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108960" y="5687568"/>
            <a:ext cx="7680960" cy="310896"/>
          </a:xfrm>
          <a:prstGeom prst="roundRect">
            <a:avLst>
              <a:gd name="adj" fmla="val 11765"/>
            </a:avLst>
          </a:prstGeom>
          <a:solidFill>
            <a:srgbClr val="EDF1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108960" y="5687568"/>
            <a:ext cx="1744895" cy="310896"/>
          </a:xfrm>
          <a:prstGeom prst="roundRect">
            <a:avLst>
              <a:gd name="adj" fmla="val 11765"/>
            </a:avLst>
          </a:prstGeom>
          <a:solidFill>
            <a:srgbClr val="C59D48"/>
          </a:solidFill>
          <a:ln/>
        </p:spPr>
      </p:sp>
      <p:sp>
        <p:nvSpPr>
          <p:cNvPr id="41" name="Text 39"/>
          <p:cNvSpPr/>
          <p:nvPr/>
        </p:nvSpPr>
        <p:spPr>
          <a:xfrm>
            <a:off x="4963583" y="56875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20.400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14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PHẦN 6 — ĐÁNH GIÁ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Hạn chế &amp; </a:t>
            </a:r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highlight>
                  <a:srgbClr val="E7D6A8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hướng phát triển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029968"/>
            <a:ext cx="155448" cy="155448"/>
          </a:xfrm>
          <a:prstGeom prst="rect">
            <a:avLst/>
          </a:prstGeom>
          <a:solidFill>
            <a:srgbClr val="213D6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Hạn chế hiện tại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Chưa có test tự động E2E (mới kiểm thử thủ công / QA).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CI/CD mới một phần (có Firebase Hosting workflow).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Chưa triển khai iOS (cần Apple Developer + TestFlight).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Analytics cho giáo viên / admin còn cơ bản.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029968"/>
            <a:ext cx="155448" cy="155448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146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Bổ sung unit / integration / E2E test + CI/CD đầy đủ.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Dashboard phân tích học tập cho giáo viên / admin.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Tối ưu hiệu năng: lazy-load, phân trang.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Mở rộng kho nội dung &amp; phát hành iOS.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8404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D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E4C · English for Community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643737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2D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15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0" y="-2286000"/>
            <a:ext cx="6400800" cy="6400800"/>
          </a:xfrm>
          <a:prstGeom prst="ellipse">
            <a:avLst/>
          </a:prstGeom>
          <a:solidFill>
            <a:srgbClr val="2B528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59D4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960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Hoàn thành nền tảng production-ready, đã chạy thật trên domain riêng.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Đủ 3 vai trò · 5 kỹ năng · hệ thống lớp – thi – chấm realtime.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Tích hợp AI vào chấm viết, phát âm, trợ lý &amp; hội thoại voice.</a:t>
            </a:r>
            <a:endParaRPr lang="en-US" sz="1550" dirty="0"/>
          </a:p>
          <a:p>
            <a:pPr marL="342900" indent="-342900">
              <a:buSzPct val="100000"/>
              <a:buChar char="▪"/>
            </a:pPr>
            <a:r>
              <a:rPr lang="en-US" sz="1550" dirty="0">
                <a:solidFill>
                  <a:srgbClr val="EAF0F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Thể hiện năng lực full-stack end-to-end: DB → API → realtime → mobile UX.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Xin cảm ơn Hội đồng!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5528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D6A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Em xin sẵn sàng trả lời câu hỏi — 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English for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E4C — Slide bảo vệ khóa luận</dc:title>
  <dc:subject>Khóa luận tốt nghiệp — E4C</dc:subject>
  <dc:creator>Phan Duy</dc:creator>
  <cp:lastModifiedBy>Phan Duy</cp:lastModifiedBy>
  <cp:revision>1</cp:revision>
  <dcterms:created xsi:type="dcterms:W3CDTF">2026-07-06T07:12:10Z</dcterms:created>
  <dcterms:modified xsi:type="dcterms:W3CDTF">2026-07-06T07:12:10Z</dcterms:modified>
</cp:coreProperties>
</file>