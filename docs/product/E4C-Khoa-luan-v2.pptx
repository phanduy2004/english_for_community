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Chào hội đồng, nêu tên đề tài.
NÓI: 'Kính chào quý thầy cô. Em là Phan Duy, xin trình bày khóa luận: Xây dựng nền tảng học tiếng Anh cộng đồng tích hợp AI — E4C.'
Điền Trường / MSSV / GVHD / tháng bảo vệ.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NÓI 3 vấn đề bên trái → 'vì vậy em xây dựng E4C' → 3 mục tiêu bên phải, nhấn 'đã triển khai thật'. Đọc câu Bài toán như câu hỏi nghiên cứu.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NÓI: 'Mỗi công cụ mạnh một mảng — Duolingo tự học, ELSA phát âm, Classroom quản lớp. E4C tích hợp cả ba với AI.' TRUNG THỰC: điểm mạnh là tính tích hợp, không phải khối lượng nội 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NÓI: 'Em phát triển theo quy trình lặp tăng dần, kiến trúc sạch. Frontend Flutter, backend Node + MongoDB, realtime Socket.IO, và tầng AI đa nhà cung cấp.' Đây là phần 'phương pháp' của đề tài phần mềm.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Đọc từ trên xuống: Client Flutter (Clean Architecture) ⇄ Backend Express (MVC+Service) ⇄ MongoDB/Cloudinary/Firebase. Q&amp;A: 'Vì sao MongoDB?' → dữ liệu bài học dạng document lồng nhau, linh hoạt.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TRÁI: một app, sau login điều hướng theo role; bảo mật 2 lớp, server quyết định. PHẢI: CSDL 32 model quanh tài khoản – lớp/thi – nội dung. Q&amp;A: 'Chặn ở client an toàn?' → mọi API kiểm JWT+permission ở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sản phẩm — screenshot nói thay lời. CHUẨN BỊ ẢNH Home + màn Viết AI. NÓI lướt 4 kỹ năng, dừng ở Nói (voice-AI) và Viết (AI chấm + diff). Q&amp;A: 'AI chấm chính xác?' → gợi ý cho HS; bài thi trong lớp thì GV chốt điểm.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ĐIỂM NHẤN của đề tài. NÓI: 'AI được đưa sâu vào đánh giá: chấm viết, chấm phát âm, trợ lý và hội thoại voice. Dùng đa provider để dự phòng và tối ưu chi phí.' Q&amp;A: 'Nhiều provider để làm gì?' → dự phòng khi lỗi/hết quota + chọn theo tốc độ/chi phí.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 — PHẦN LÕI. CHUẨN BỊ ẢNH Live monitor. NÓI pipeline trái→phải; nhấn realtime, AI-nháp-GV-chốt, chống gian lận. Q&amp;A: 'Đồng bộ thời gian thi?' → server-authoritative. 'Mất mạng?' → lưu theo lượt, vào lại tiếp tục.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NÓI: 'Admin quản CMS, người dùng, duyệt giáo viên, có nhật ký. Điểm kỹ thuật: phát hành app theo state machine — CI tạo bản, admin duyệt rồi phát hành.' Q&amp;A: 'Force update?' → chặn bản cũ khi có lỗi/bảo mật.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Đừng đọc từng số. NÓI: '~110.000 dòng code trong 8 tháng, 32 model, 21 API; phần lớn là Flutter. Toàn bộ 0 lỗi phân tích tĩnh.' TRUNG THỰC: đây là quy mô &amp; chất lượng tĩnh, chưa phải độ phủ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~3–4 phút — QUAN TRỌNG NHẤT. KỊCH BẢN BẤM: (1) đăng nhập HS đã seed → (2) mở màn Viết, nộp đoạn ngắn để lộ AI feedback → (3) chuyển tài khoản GV (2 tab/2 máy), mở phiên thi thấy HS vào lobby → (4) chấm 1 bài. BẮT BUỘC mở sẵn app + đăng nhập trước; PHÁT VIDEO nếu mạng chậm. Vừa làm vừa thuyết minh.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Tóm 4 kết quả chính trong 2 câu. NÓI dõng dạc, tự tin — đây là chốt hạ.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SỰ TRUNG THỰC ghi điểm. NÓI: 'Em xin nêu thẳng hạn chế: chưa E2E test, CI/CD một phần, chưa iOS — đây cũng là hướng phát triển.' Nếu hỏi 'đã test chưa' → thủ công/QA, E2E là việc kế tiếp.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 + Q&amp;A. 'Em xin hết phần trình bày, kính mong quý thầy cô góp ý ạ.'
LUYỆN TRƯỚC: Vì sao MongoDB? · Bảo mật token (JWT+bcrypt+OTP)? · Chống gian lận thi? · AI chấm sai (GV chốt)? · Nhiều AI provider? · Đã test chưa (thủ công/QA)? · Khác Duolingo/ELSA? · Mở rộng khi đông user?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194560"/>
            <a:ext cx="6949440" cy="6949440"/>
          </a:xfrm>
          <a:prstGeom prst="ellipse">
            <a:avLst/>
          </a:prstGeom>
          <a:solidFill>
            <a:srgbClr val="2E548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AD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[ĐẠI HỌC …]  ·  KHOA CÔNG NGHỆ THÔNG TIN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371600" cy="1371600"/>
          </a:xfrm>
          <a:prstGeom prst="roundRect">
            <a:avLst>
              <a:gd name="adj" fmla="val 8667"/>
            </a:avLst>
          </a:prstGeom>
          <a:solidFill>
            <a:srgbClr val="203E63"/>
          </a:solidFill>
          <a:ln w="2540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95528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KHÓA LUẬN TỐT NGHIỆP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3127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for Community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95528" y="4069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D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Xây dựng nền tảng học tiếng Anh cộng đồng tích hợp 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5257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55595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Phan Duy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5257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55595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[……]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90488" y="5257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GVHD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0488" y="55595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[Thầy/Cô …]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87968" y="5257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87968" y="55595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…/2026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ĐẦU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Đặt vấn đề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911096"/>
            <a:ext cx="182880" cy="18288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kỹ năng — công cụ rời rạc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Thiếu gắn kết lớp – giáo viên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chưa vào khâu đánh giá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55080" y="1911096"/>
            <a:ext cx="182880" cy="182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66597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4 kỹ năng + AI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vai trò: HS · GV · Admin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Triển khai thật, đa nền tảng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10607040" cy="6400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D5DCE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toán:  </a:t>
            </a:r>
            <a:pPr algn="ctr"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tự học + lớp học + AI trong một ứng dụng.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SỞ &amp; KHẢO SÁT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hiện có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khác biệt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3931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Giải pháp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mạnh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Còn thiếu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Duolingo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Tự học, gamification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Thiếu lớp &amp; 4 kỹ năng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ELSA Speak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Luyện phát âm tốt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kỹ năng Nói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Classroom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lý lớp học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có nội dung học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E4C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Học + Lớp + Thi + AI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tích hợp toàn diện</a:t>
                      </a:r>
                      <a:endParaRPr lang="en-US" sz="1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PHÁP PHÁT TRIỂN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24912" y="2304288"/>
            <a:ext cx="219456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90088" y="18745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2304288"/>
            <a:ext cx="219456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57216" y="18745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Lập trình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59168" y="2304288"/>
            <a:ext cx="219456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24344" y="18745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226296" y="2304288"/>
            <a:ext cx="219456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491472" y="18745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AF3DF"/>
          </a:solidFill>
          <a:ln w="15875">
            <a:solidFill>
              <a:srgbClr val="C59D4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Triển khai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880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lặp – tăng dần (iterative), kiến trúc sạch (Clean Architecture)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3291840" cy="2560320"/>
          </a:xfrm>
          <a:prstGeom prst="roundRect">
            <a:avLst>
              <a:gd name="adj" fmla="val 2500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· BLoC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GoRouter · Dio (JWT)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· sqflite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4840" y="3429000"/>
            <a:ext cx="3291840" cy="2560320"/>
          </a:xfrm>
          <a:prstGeom prst="roundRect">
            <a:avLst>
              <a:gd name="adj" fmla="val 2500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· Express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· Mongoose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· Zod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6720" y="3429000"/>
            <a:ext cx="3291840" cy="2560320"/>
          </a:xfrm>
          <a:prstGeom prst="roundRect">
            <a:avLst>
              <a:gd name="adj" fmla="val 2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 tuệ nhân tạo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321040" y="41148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E7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· OpenAI · Groq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600" dirty="0">
                <a:solidFill>
                  <a:srgbClr val="E7EE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VAPI (voice AI)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HỆ THỐNG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tổng thể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377440" y="1874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2E5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Client — Mobile &amp; Web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Architecture · GoRouter · GetIt DI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80760" y="2834640"/>
            <a:ext cx="0" cy="41148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355080" y="2852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· JWT · WebSocket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333756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Backend — Express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MVC + Service · REST + Socket.IO · Auth/RBAC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80760" y="4297680"/>
            <a:ext cx="0" cy="41148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77440" y="475488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CSDL chính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475488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Ảnh · audio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FCM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HỆ THỐNG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911096"/>
            <a:ext cx="182880" cy="18288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(RBAC)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App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AD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login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08960" y="2971800"/>
            <a:ext cx="384048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11880" y="2423160"/>
            <a:ext cx="1097280" cy="1097280"/>
          </a:xfrm>
          <a:prstGeom prst="diamond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365760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66360" y="214884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AF3DF"/>
          </a:solidFill>
          <a:ln w="15875">
            <a:solidFill>
              <a:srgbClr val="C59D4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sinh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66360" y="278892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AF3DF"/>
          </a:solidFill>
          <a:ln w="15875">
            <a:solidFill>
              <a:srgbClr val="C59D4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66360" y="342900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FAF3DF"/>
          </a:solidFill>
          <a:ln w="15875">
            <a:solidFill>
              <a:srgbClr val="C59D4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Bảo mật 2 lớp: JWT + RBAC (server) · GoRouter (client)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0" y="1911096"/>
            <a:ext cx="182880" cy="182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08329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CSDL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772400" y="24688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05256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models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0" y="3611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· Classroom · Exam</a:t>
            </a:r>
            <a:endParaRPr lang="en-US" sz="17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 5 kỹ năng</a:t>
            </a:r>
            <a:endParaRPr lang="en-US" sz="17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· Notification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· HỌC SINH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Bốn kỹ năng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học tập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 w="19050">
            <a:solidFill>
              <a:srgbClr val="C59D4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2377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34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spc="2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CHÈN ẢNH MOBILE</a:t>
            </a:r>
            <a:endParaRPr lang="en-US" sz="34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học sinh hoặc màn Viết có AI.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886200" y="1874520"/>
            <a:ext cx="370332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874520"/>
            <a:ext cx="82296" cy="1188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2075688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🎧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20391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37760" y="24780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Dictation + trắc nghiệm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80960" y="1874520"/>
            <a:ext cx="370332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874520"/>
            <a:ext cx="82296" cy="1188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075688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732520" y="20391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Nói · AI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32520" y="24780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 phát âm (WER)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86200" y="3246120"/>
            <a:ext cx="370332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3246120"/>
            <a:ext cx="82296" cy="1188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3447288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37760" y="34107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Đọc · AI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937760" y="38496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Câu hỏi + phản hồi AI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80960" y="3246120"/>
            <a:ext cx="370332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246120"/>
            <a:ext cx="82296" cy="1188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3447288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732520" y="34107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· AI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732520" y="38496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chấm + sửa lỗi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886200" y="4617720"/>
            <a:ext cx="370332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6200" y="4617720"/>
            <a:ext cx="82296" cy="1188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2" name="Text 30"/>
          <p:cNvSpPr/>
          <p:nvPr/>
        </p:nvSpPr>
        <p:spPr>
          <a:xfrm>
            <a:off x="4069080" y="4818888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937760" y="4782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vựng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4937760" y="52212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 offline + SRS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80960" y="4617720"/>
            <a:ext cx="370332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4617720"/>
            <a:ext cx="82296" cy="1188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4818888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732520" y="4782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Gamification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732520" y="52212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· streak · rank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· ĐIỂM NHẤN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Trí tuệ nhân tạo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Lõi AI đa nhà cung cấp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D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· OpenAI · Groq · VAPI (voice)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1927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057400" y="3319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 bài viết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5740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Grammar · từ vựng · diff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1927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543800" y="3319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phát âm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4380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khớp WER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737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057400" y="4873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Trợ lý học tập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05740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theo ngữ cảnh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46177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8737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🗣️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543800" y="4873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Hội thoại giọng nói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54380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speaking (VAPI)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· GIÁO VIÊN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học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Thi realtime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lớp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14016" y="2286000"/>
            <a:ext cx="201168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51760" y="18745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đề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42816" y="2286000"/>
            <a:ext cx="201168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480560" y="18745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bài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71616" y="2286000"/>
            <a:ext cx="201168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09360" y="18745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AF3DF"/>
          </a:solidFill>
          <a:ln w="15875">
            <a:solidFill>
              <a:srgbClr val="C59D4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 realtime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00416" y="2286000"/>
            <a:ext cx="201168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138160" y="18745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729216" y="2286000"/>
            <a:ext cx="201168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966960" y="18745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D5DCE7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điểm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77240" y="306324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 w="19050">
            <a:solidFill>
              <a:srgbClr val="C59D4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60120" y="306324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34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b="1" spc="2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CHÈN ẢNH WEB</a:t>
            </a:r>
            <a:endParaRPr lang="en-US" sz="34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Live monitor phiên thi hoặc Sổ điểm.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040880" y="320040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1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 realtime (Socket.IO)</a:t>
            </a:r>
            <a:endParaRPr lang="en-US" sz="21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1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Giám sát trực tiếp</a:t>
            </a:r>
            <a:endParaRPr lang="en-US" sz="21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1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Chấm: auto + AI + GV</a:t>
            </a:r>
            <a:endParaRPr lang="en-US" sz="21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1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Chống gian lận: rời tab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· QUẢN TRỊ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phát hành app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911096"/>
            <a:ext cx="182880" cy="182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nền tảng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 nội dung 5 kỹ năng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user · duyệt GV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duyệt · nhật ký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55080" y="1911096"/>
            <a:ext cx="182880" cy="18288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2" name="Text 10"/>
          <p:cNvSpPr/>
          <p:nvPr/>
        </p:nvSpPr>
        <p:spPr>
          <a:xfrm>
            <a:off x="666597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hành app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1170432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34656" y="2743200"/>
            <a:ext cx="164592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08392" y="2468880"/>
            <a:ext cx="1170432" cy="548640"/>
          </a:xfrm>
          <a:prstGeom prst="roundRect">
            <a:avLst>
              <a:gd name="adj" fmla="val 50000"/>
            </a:avLst>
          </a:prstGeom>
          <a:solidFill>
            <a:srgbClr val="C59D48"/>
          </a:solidFill>
          <a:ln w="15875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87968" y="2743200"/>
            <a:ext cx="164592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061704" y="2468880"/>
            <a:ext cx="1170432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41280" y="2743200"/>
            <a:ext cx="164592" cy="0"/>
          </a:xfrm>
          <a:prstGeom prst="line">
            <a:avLst/>
          </a:prstGeom>
          <a:noFill/>
          <a:ln w="3810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415016" y="2468880"/>
            <a:ext cx="1170432" cy="54864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5875">
            <a:solidFill>
              <a:srgbClr val="1F3A5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4290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1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tạo bản → admin duyệt</a:t>
            </a:r>
            <a:endParaRPr lang="en-US" sz="21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1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Cập nhật in-app (soft/force)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· ĐÁNH GIÁ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mô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chất lượng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3401568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574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110.200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51560" y="27249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dòng code (~8 tháng)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79976" y="1920240"/>
            <a:ext cx="3401568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0574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54296" y="27249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· 21 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82712" y="1920240"/>
            <a:ext cx="3401568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574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57032" y="27249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· 14 module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291840"/>
            <a:ext cx="3401568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4290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5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051560" y="40965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/ kỹ năng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79976" y="3291840"/>
            <a:ext cx="3401568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4290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654296" y="40965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+ voice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82712" y="3291840"/>
            <a:ext cx="3401568" cy="1234440"/>
          </a:xfrm>
          <a:prstGeom prst="roundRect">
            <a:avLst>
              <a:gd name="adj" fmla="val 5185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38744" y="34290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257032" y="4096512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lỗi phân tích tĩnh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800600"/>
            <a:ext cx="10607040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bố dòng code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5294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(Dart)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0" y="5321808"/>
            <a:ext cx="6949440" cy="329184"/>
          </a:xfrm>
          <a:prstGeom prst="roundRect">
            <a:avLst>
              <a:gd name="adj" fmla="val 13889"/>
            </a:avLst>
          </a:prstGeom>
          <a:solidFill>
            <a:srgbClr val="E7EC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5321808"/>
            <a:ext cx="6949440" cy="329184"/>
          </a:xfrm>
          <a:prstGeom prst="roundRect">
            <a:avLst>
              <a:gd name="adj" fmla="val 13889"/>
            </a:avLst>
          </a:prstGeom>
          <a:solidFill>
            <a:srgbClr val="1F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5321808"/>
            <a:ext cx="6812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89.800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5687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(Node)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657600" y="5715000"/>
            <a:ext cx="6949440" cy="329184"/>
          </a:xfrm>
          <a:prstGeom prst="roundRect">
            <a:avLst>
              <a:gd name="adj" fmla="val 13889"/>
            </a:avLst>
          </a:prstGeom>
          <a:solidFill>
            <a:srgbClr val="E7ECF4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5715000"/>
            <a:ext cx="1578715" cy="329184"/>
          </a:xfrm>
          <a:prstGeom prst="roundRect">
            <a:avLst>
              <a:gd name="adj" fmla="val 13889"/>
            </a:avLst>
          </a:prstGeom>
          <a:solidFill>
            <a:srgbClr val="C59D48"/>
          </a:solidFill>
          <a:ln/>
        </p:spPr>
      </p:sp>
      <p:sp>
        <p:nvSpPr>
          <p:cNvPr id="35" name="Text 33"/>
          <p:cNvSpPr/>
          <p:nvPr/>
        </p:nvSpPr>
        <p:spPr>
          <a:xfrm>
            <a:off x="5373475" y="5715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20.400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5 — TRÌNH DIỄN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pPr indent="0" marL="0">
              <a:buNone/>
            </a:pPr>
            <a:r>
              <a:rPr lang="en-US" sz="6000" b="1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03E63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429000"/>
            <a:ext cx="502920" cy="50292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397764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HS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8408" y="437083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· điểm · streak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02152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03E63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429000"/>
            <a:ext cx="502920" cy="50292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397764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có AI chấm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437083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→ feedback AI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27064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03E63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429000"/>
            <a:ext cx="502920" cy="50292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97764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 mở phiên thi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8232" y="437083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Lobby → live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51976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03E63"/>
          </a:solidFill>
          <a:ln w="12700">
            <a:solidFill>
              <a:srgbClr val="3A5A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3429000"/>
            <a:ext cx="502920" cy="502920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53144" y="397764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 &amp; phát điểm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53144" y="437083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nháp → GV chốt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D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Luôn có VIDEO quay sẵn dự phòng.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đạt được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574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74520" y="20574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chạy thật, đa nền tảng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63640" y="20574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0574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60920" y="20574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vai trò · 5 kỹ năng · AI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56616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74520" y="35661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– thi – chấm realtime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356616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60920" y="35661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end-to-end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E4C: một sản phẩm hoàn chỉnh, sẵn sàng đưa vào sử dụng.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438912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 &amp; </a:t>
            </a:r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highlight>
                  <a:srgbClr val="EAD9A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phát triển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1911096"/>
            <a:ext cx="182880" cy="182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có test tự động E2E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chưa đầy đủ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triển khai iOS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55080" y="1911096"/>
            <a:ext cx="182880" cy="18288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2" name="Text 10"/>
          <p:cNvSpPr/>
          <p:nvPr/>
        </p:nvSpPr>
        <p:spPr>
          <a:xfrm>
            <a:off x="6665976" y="17739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nghị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Bổ sung kiểm thử E2E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phân tích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hiệu năng</a:t>
            </a:r>
            <a:endParaRPr lang="en-US" sz="2400" dirty="0"/>
          </a:p>
          <a:p>
            <a:pPr marL="228600" indent="-228600">
              <a:lnSpc>
                <a:spcPct val="102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nội dung · iOS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27080" y="329184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F3A5F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190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419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0" y="-2377440"/>
            <a:ext cx="6583680" cy="6583680"/>
          </a:xfrm>
          <a:prstGeom prst="ellipse">
            <a:avLst/>
          </a:prstGeom>
          <a:solidFill>
            <a:srgbClr val="2E548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1371600" cy="1371600"/>
          </a:xfrm>
          <a:prstGeom prst="roundRect">
            <a:avLst>
              <a:gd name="adj" fmla="val 8667"/>
            </a:avLst>
          </a:prstGeom>
          <a:solidFill>
            <a:srgbClr val="203E63"/>
          </a:solidFill>
          <a:ln w="2540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Xin cảm ơn Hội đồng!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95528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D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Kính mời quý thầy cô đặt câu hỏi  —  Q&amp;A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Phan Duy  ·  english4community.online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English for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E4C — Slide bảo vệ khóa luận (chuẩn hội đồng)</dc:title>
  <dc:subject>PptxGenJS Presentation</dc:subject>
  <dc:creator>Phan Duy</dc:creator>
  <cp:lastModifiedBy>Phan Duy</cp:lastModifiedBy>
  <cp:revision>1</cp:revision>
  <dcterms:created xsi:type="dcterms:W3CDTF">2026-07-06T07:32:10Z</dcterms:created>
  <dcterms:modified xsi:type="dcterms:W3CDTF">2026-07-06T07:32:10Z</dcterms:modified>
</cp:coreProperties>
</file>