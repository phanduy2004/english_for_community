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TIÊU (~30s): Chào hội đồng &amp; nêu đúng tên đề tài.
NÓI: "Kính chào quý thầy cô. Em là Phan Duy, xin trình bày khóa luận English for Community — nền tảng học tiếng Anh cộng đồng tích hợp AI, gồm app mobile cho học sinh và web cho giáo viên/admin."
LƯU Ý: Điền tên GVHD, trường, tháng bảo vệ. Đứng thẳng, chưa vội chuyển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Slide 'bán' lý do đề tài.
NÓI: nêu 3 vấn đề bên trái → chốt 'vì vậy em xây dựng E4C' → đọc lướt 3 mục tiêu, nhấn mạnh 'đã triển khai thật, không chỉ chạy máy ảo'.
Q&amp;A: nếu hỏi khác Duolingo chỗ nào → để dành trả lời ở slide Khảo sát.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Trả lời câu 'khác gì app có sẵn'.
NÓI: 'Mỗi công cụ mạnh một mảng: Duolingo tự học, ELSA phát âm, Google Classroom quản lớp. E4C kết hợp cả ba với AI trong cùng một app đa vai trò.'
TRUNG THỰC: điểm mạnh là tính TÍCH HỢP, không phải khối lượng nội 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Phân tích actor + bảo mật.
NÓI: 'Toàn hệ thống dùng MỘT app Flutter. Sau đăng nhập, GoRouter đọc trường role và điều hướng đến workspace tương ứng.'
Nhấn: 'Bảo mật 2 lớp — server quyết định, client chỉ chặn phụ; không tin client.'
Q&amp;A: 'Chặn ở client an toàn?' → Không; mọi API kiểm JWT + permission ở server, GoRouter chỉ là lớp UX thứ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Đọc từ trên xuống theo tầng.
NÓI: 'Client Flutter theo Clean Architecture, tách UI–logic–data. Giao tiếp backend qua HTTPS có JWT và WebSocket cho realtime. Backend Express theo MVC + Service, nối MongoDB Atlas, Cloudinary lưu media, Firebase cho auth/push.'
Q&amp;A: 'Vì sao MongoDB không SQL?' → dữ liệu bài học/đề thi dạng document lồng nhau (skills, cues, options) linh hoạt; có Mongoose ràng buộc.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ĐỪNG đọc hết. Lướt 3 nhóm, dừng ở AI.
NÓI: 'Frontend Flutter với BLoC + GoRouter; backend Node/Express + MongoDB; realtime Socket.IO hai đầu. Đáng chú ý là tầng AI — đa provider Gemini/OpenAI/Groq và VAPI cho voice.'
Q&amp;A: 'Vì sao nhiều AI provider?' → dự phòng khi 1 provider lỗi/hết quota + tối ưu chi phí/tốc độ theo tác vụ.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ERD rút gọn — đừng liệt kê 32 model.
NÓI: 'CSDL gồm 32 model. Luồng chính: User tham gia Classroom, giáo viên tạo Exam, học sinh sinh ra ExamAttempt. Hàng dưới là nhóm phụ trợ: nội dung 5 kỹ năng, từ vựng, thông báo, đơn giáo viên.'
Nếu hỏi chi tiết → mở phụ lục báo cáo giấy có bảng đầy đủ.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Slide sản phẩm — để screenshot nói thay lời.
CHUẨN BỊ ẢNH: 1 ảnh Home + (nếu kịp) 1 ảnh màn Viết có AI diff, khung dọc 9:19.
NÓI: lướt 4 kỹ năng, dừng ở NÓI (voice-AI VAPI) và VIẾT (AI chấm + diff). 'Từ điển tra được cả khi offline nhờ SQLite.'
Q&amp;A: 'AI chấm chính xác không?' → là gợi ý cho người học; với bài thi trong lớp AI chỉ chấm nháp, giáo viên chốt điểm.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 — PHẦN LÕI tạo khác biệt, dành nhiều thời gian.
CHUẨN BỊ ẢNH: màn Live monitor phiên thi (đẹp nhất) hoặc Gradebook.
NÓI: đi theo pipeline trái→phải một hơi; nhấn 3 ý: realtime, AI-nháp-GV-chốt, chống gian lận.
Q&amp;A: 'Đồng bộ thời gian thi?' → server quyết (server-authoritative). 'Mất mạng giữa chừng?' → bài lưu theo lượt, vào lại tiếp tục.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Nói gọn, phần vận hành.
NÓI: 'Admin quản nội dung CMS, người dùng, duyệt giáo viên và có audit log. Điểm kỹ thuật đáng chú ý bên phải: hệ thống phát hành app theo state machine — CI tạo bản ứng viên, admin duyệt rồi phát hành, app tự nhắc cập nhật.'
Q&amp;A: 'Force update để làm gì?' → khi có bản vá bảo mật/lỗi nghiêm trọng, chặn dùng bản cũ.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phút. Slide 'khoe' năng lực — nói dõng dạc.
NÓI: không đọc hết 6 ô; nhấn AI, Realtime, JWT dual-token — ba thứ khó nhất. Kết: 'toàn bộ đạt 0 error, 0 warning qua phân tích tĩnh.'
Q&amp;A: 'Dual-token là gì?' → access token hết hạn nhanh cho an toàn; refresh token gia hạn tự động qua Dio interceptor, người dùng không bị đăng xuất giữa chừng.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~3–4 phút — PHẦN QUAN TRỌNG NHẤT.
KỊCH BẢN BẤM: (1) đăng nhập tài khoản học sinh đã seed dữ liệu → (2) mở màn Viết, nộp đoạn ngắn để lộ AI feedback → (3) chuyển tài khoản giáo viên (2 thiết bị/2 tab), mở phiên thi để thấy học sinh vào lobby → (4) chấm 1 bài, phát điểm.
BẮT BUỘC: mở sẵn app + đăng nhập trước khi lên; seed sẵn tài khoản/đề thi. PHÁT VIDEO nếu mạng chậm.
Mẹo: vừa thao tác vừa thuyết minh, đừng im lặng chờ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Cho cảm nhận khối lượng — đừng đọc từng số.
NÓI: 'Khoảng 110.000 dòng code trong ~8 tháng, tổ chức thành 14 module, 32 model, 21 route API; phần lớn là Flutter như biểu đồ. Toàn bộ đạt 0 error, 0 warning.'
TRUNG THỰC: đây là quy mô &amp; chất lượng tĩnh, chưa phải độ phủ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SỰ TRUNG THỰC ở đây ghi điểm.
NÓI: 'Em xin nêu thẳng hạn chế: chưa có E2E test, CI/CD mới một phần, chưa lên iOS. Đây cũng là hướng phát triển tiếp theo, cùng dashboard phân tích cho giáo viên.'
BẪY: hỏi 'đã test chưa' → đừng chối; nói rõ đang test thủ công + QA, E2E là việc kế tiếp.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 + Q&amp;A.
NÓI: tóm 4 ý trong 2 câu → 'Em xin hết phần trình bày, kính mong quý thầy cô góp ý ạ.'
CÂU HỎI LUYỆN TRƯỚC: Vì sao MongoDB thay vì SQL? · Bảo mật token &amp; mật khẩu (JWT + bcrypt + OTP TTL)? · Chống gian lận khi thi? · AI chấm sai xử lý sao (GV chốt điểm)? · Vì sao nhiều AI provider? · Đã kiểm thử chưa (thủ công/QA; E2E là hướng phát triển)? · Khác gì Duolingo/ELSA? · Mở rộng khi đông user?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103120"/>
            <a:ext cx="6858000" cy="6858000"/>
          </a:xfrm>
          <a:prstGeom prst="ellipse">
            <a:avLst/>
          </a:prstGeom>
          <a:solidFill>
            <a:srgbClr val="2B5288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1E355C"/>
          </a:solidFill>
          <a:ln w="25400">
            <a:solidFill>
              <a:srgbClr val="C59D48"/>
            </a:solidFill>
          </a:ln>
          <a:effectLst>
            <a:outerShdw sx="100000" sy="100000" kx="0" ky="0" algn="bl" rotWithShape="0" blurRad="76200" dist="19050" dir="5400000">
              <a:srgbClr val="8FA0B5">
                <a:alpha val="3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95528" y="22860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KHÓA LUẬN TỐT NGHIỆP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26517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 for Community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95528" y="36118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D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học tiếng Anh cộng đồng tích hợp AI — Web &amp; Mobile đa vai trò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4343400"/>
            <a:ext cx="2514600" cy="475488"/>
          </a:xfrm>
          <a:prstGeom prst="roundRect">
            <a:avLst>
              <a:gd name="adj" fmla="val 50000"/>
            </a:avLst>
          </a:prstGeom>
          <a:ln w="12700">
            <a:solidFill>
              <a:srgbClr val="5C79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kỹ năng + Từ vựng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38728" y="4343400"/>
            <a:ext cx="2697480" cy="475488"/>
          </a:xfrm>
          <a:prstGeom prst="roundRect">
            <a:avLst>
              <a:gd name="adj" fmla="val 50000"/>
            </a:avLst>
          </a:prstGeom>
          <a:ln w="12700">
            <a:solidFill>
              <a:srgbClr val="5C79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chấm bài &amp; phát âm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64808" y="4343400"/>
            <a:ext cx="3246120" cy="475488"/>
          </a:xfrm>
          <a:prstGeom prst="roundRect">
            <a:avLst>
              <a:gd name="adj" fmla="val 50000"/>
            </a:avLst>
          </a:prstGeom>
          <a:ln w="12700">
            <a:solidFill>
              <a:srgbClr val="5C79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· Lớp · Thi realtime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5528" y="5440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" y="5742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Phan Duy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5440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GVHD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93008" y="5742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[Thầy/Cô …]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0488" y="5440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Đơn vị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90488" y="5742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Khoa CNTT — [Trường]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87968" y="5440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Thời gian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87968" y="5742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…/2026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english4community.online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1 — ĐẶT VẤN ĐỀ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 &amp;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đề tài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75688"/>
            <a:ext cx="164592" cy="164592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1956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 đặt 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Người học VN cần luyện đủ 4 kỹ năng nhưng công cụ rời rạc, ít cá nhân hóa.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phổ biến mạnh 1–2 kỹ năng, ít gắn với lớp học – giáo viên – chấm bài thật.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chưa được đưa sâu vào quy trình đánh giá (chấm viết, đánh giá phát âm).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075688"/>
            <a:ext cx="164592" cy="164592"/>
          </a:xfrm>
          <a:prstGeom prst="rect">
            <a:avLst/>
          </a:prstGeom>
          <a:solidFill>
            <a:srgbClr val="213D65"/>
          </a:solidFill>
          <a:ln/>
        </p:spPr>
      </p:sp>
      <p:sp>
        <p:nvSpPr>
          <p:cNvPr id="13" name="Text 11"/>
          <p:cNvSpPr/>
          <p:nvPr/>
        </p:nvSpPr>
        <p:spPr>
          <a:xfrm>
            <a:off x="6647688" y="1956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&amp; phạm vi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6060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full-stack: 4 kỹ năng + từ vựng, tích hợp AI, gamification.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vai trò: Học sinh (mobile) · Giáo viên (web/tablet) · Admin.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nghệ: Flutter + Node.js + MongoDB; đã triển khai thật (Render + domain).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1 — KHẢO SÁT HIỆN TRẠNG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hiện có &amp;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khác biệt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74520"/>
                <a:gridCol w="187452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6B8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6B8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Duolingo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6B8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ELSA Speak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6B8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 Classroom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E4C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2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Luyện đủ 4 kỹ năng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C59D4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Một phần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C59D4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Nói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chấm bài viết / phát âm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E7D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Phát âm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học – giáo viên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E7D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Soạn đề · thi · chấm realtime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C59D4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Cơ bản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Đa vai trò trong 1 ứng dụng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C0546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3D6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1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53949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gộp </a:t>
            </a:r>
            <a:pPr algn="ctr"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học có AI</a:t>
            </a:r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và </a:t>
            </a:r>
            <a:pPr algn="ctr"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lớp – thi – chấm realtime</a:t>
            </a:r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trong </a:t>
            </a:r>
            <a:pPr algn="ctr"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app đa vai trò</a:t>
            </a:r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2 — PHÂN TÍCH YÊU CẦU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vai trò &amp;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phân quyền (RBAC)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60320"/>
            <a:ext cx="2468880" cy="960120"/>
          </a:xfrm>
          <a:prstGeom prst="roundRect">
            <a:avLst>
              <a:gd name="adj" fmla="val 6667"/>
            </a:avLst>
          </a:prstGeom>
          <a:solidFill>
            <a:srgbClr val="213D65"/>
          </a:solidFill>
          <a:ln w="15875">
            <a:solidFill>
              <a:srgbClr val="213D65"/>
            </a:solidFill>
          </a:ln>
          <a:effectLst>
            <a:outerShdw sx="100000" sy="100000" kx="0" ky="0" algn="bl" rotWithShape="0" blurRad="50800" dist="12700" dir="5400000">
              <a:srgbClr val="A9B6C7">
                <a:alpha val="2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App Flutter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E7D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· JWT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37560" y="3044952"/>
            <a:ext cx="45720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931920" y="2377440"/>
            <a:ext cx="1325880" cy="1325880"/>
          </a:xfrm>
          <a:prstGeom prst="diamond">
            <a:avLst/>
          </a:prstGeom>
          <a:solidFill>
            <a:srgbClr val="C59D48"/>
          </a:solidFill>
          <a:ln/>
          <a:effectLst>
            <a:outerShdw sx="100000" sy="100000" kx="0" ky="0" algn="bl" rotWithShape="0" blurRad="645160000" dist="161290000" dir="324000000000">
              <a:srgbClr val="A9B6C7">
                <a:alpha val="28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49240" y="3044952"/>
            <a:ext cx="45720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943600" y="1828800"/>
            <a:ext cx="4937760" cy="859536"/>
          </a:xfrm>
          <a:prstGeom prst="roundRect">
            <a:avLst>
              <a:gd name="adj" fmla="val 7447"/>
            </a:avLst>
          </a:prstGeom>
          <a:solidFill>
            <a:srgbClr val="FAF2DD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8193532000000" dist="2048383000000" dir="19440000000000000">
              <a:srgbClr val="A9B6C7">
                <a:alpha val="2800000000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sinh · user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— học 4 kỹ năng + 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825496"/>
            <a:ext cx="4937760" cy="859536"/>
          </a:xfrm>
          <a:prstGeom prst="roundRect">
            <a:avLst>
              <a:gd name="adj" fmla="val 7447"/>
            </a:avLst>
          </a:prstGeom>
          <a:solidFill>
            <a:srgbClr val="FAF2DD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104057856400000000" dist="26014464100000000" dir="1.1664e+21">
              <a:srgbClr val="A9B6C7">
                <a:alpha val="28000000000000000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· teacher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lớp &amp; thi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3822192"/>
            <a:ext cx="4937760" cy="859536"/>
          </a:xfrm>
          <a:prstGeom prst="roundRect">
            <a:avLst>
              <a:gd name="adj" fmla="val 7447"/>
            </a:avLst>
          </a:prstGeom>
          <a:solidFill>
            <a:srgbClr val="FAF2DD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1.32153477628e+21" dist="330383694070000000000" dir="6.9984e+25">
              <a:srgbClr val="A9B6C7">
                <a:alpha val="2.8e+2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 — CMS &amp; vận hành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10607040" cy="685800"/>
          </a:xfrm>
          <a:prstGeom prst="roundRect">
            <a:avLst>
              <a:gd name="adj" fmla="val 9333"/>
            </a:avLst>
          </a:prstGeom>
          <a:solidFill>
            <a:srgbClr val="F5F7FA"/>
          </a:solidFill>
          <a:ln w="12700">
            <a:solidFill>
              <a:srgbClr val="DDE3EC"/>
            </a:solidFill>
          </a:ln>
          <a:effectLst>
            <a:outerShdw sx="100000" sy="100000" kx="0" ky="0" algn="bl" rotWithShape="0" blurRad="1.6783491658756e+25" dist="4.195872914689e+24" dir="4.19904e+30">
              <a:srgbClr val="A9B6C7">
                <a:alpha val="2.8000000000000003e+29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Bảo mật 2 lớp:  </a:t>
            </a:r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RBAC middleware (server – quyết định)  ·  GoRouter redirect (client – chặn sai route)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3 — THIẾT KẾ HỆ THỐNG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tổng thể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920240"/>
            <a:ext cx="7772400" cy="896112"/>
          </a:xfrm>
          <a:prstGeom prst="roundRect">
            <a:avLst>
              <a:gd name="adj" fmla="val 8163"/>
            </a:avLst>
          </a:prstGeom>
          <a:solidFill>
            <a:srgbClr val="2B5288"/>
          </a:solidFill>
          <a:ln/>
          <a:effectLst>
            <a:outerShdw sx="100000" sy="100000" kx="0" ky="0" algn="bl" rotWithShape="0" blurRad="967740000" dist="241935000" dir="324000000000">
              <a:srgbClr val="8FA0B5">
                <a:alpha val="32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Client — Mobile &amp; Web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Architecture: UI → BLoC → Repository → Datasource  ·  GoRouter  ·  GetIt DI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2852928"/>
            <a:ext cx="0" cy="384048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355080" y="2862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· JWT · WebSocket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94560" y="3310128"/>
            <a:ext cx="7772400" cy="896112"/>
          </a:xfrm>
          <a:prstGeom prst="roundRect">
            <a:avLst>
              <a:gd name="adj" fmla="val 8163"/>
            </a:avLst>
          </a:prstGeom>
          <a:solidFill>
            <a:srgbClr val="213D65"/>
          </a:solidFill>
          <a:ln/>
          <a:effectLst>
            <a:outerShdw sx="100000" sy="100000" kx="0" ky="0" algn="bl" rotWithShape="0" blurRad="12290298000000" dist="3072574500000" dir="19440000000000000">
              <a:srgbClr val="8FA0B5">
                <a:alpha val="3200000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Backend — Express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MVC + Service Layer  ·  REST API + Socket.IO  ·  Middleware Auth/RBAC  ·  Jobs (node-cron)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80760" y="4242816"/>
            <a:ext cx="0" cy="384048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194560" y="4709160"/>
            <a:ext cx="24231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2.1315034406620118e+29" dist="5.3287586016550295e+28" dir="2.519424e+35">
              <a:srgbClr val="A9B6C7">
                <a:alpha val="2.8000000000000005e+3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CSDL chính · Mongoose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4709160"/>
            <a:ext cx="23774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2.707009369640755e+33" dist="6.767523424101888e+32" dir="1.5116544e+40">
              <a:srgbClr val="A9B6C7">
                <a:alpha val="2.8000000000000006e+39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Ảnh · audio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43800" y="4709160"/>
            <a:ext cx="27889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3.437901899443759e+37" dist="8.594754748609397e+36" dir="9.069926400000001e+44">
              <a:srgbClr val="A9B6C7">
                <a:alpha val="2.8000000000000005e+4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· FCM ·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3 — CÔNG NGHỆ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nghệ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sử dụng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1168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56086784600000000" dist="39021696150000000" dir="1.1664e+21">
              <a:srgbClr val="8FA0B5">
                <a:alpha val="320000000000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33272" y="2212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27614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· Dart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flutter_bloc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go_router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Dio + JWT interceptor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get_it (DI)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socket_io_client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· sqflite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fl_chart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201168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.98230216442e+21" dist="495575541105000000000" dir="6.9984e+25">
              <a:srgbClr val="8FA0B5">
                <a:alpha val="3.2e+2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2212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27614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(MongoDB)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· bcrypt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 (validation)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node-cron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 · Nodemailer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01168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213D65"/>
          </a:solidFill>
          <a:ln w="12700">
            <a:solidFill>
              <a:srgbClr val="213D65"/>
            </a:solidFill>
            <a:prstDash val="solid"/>
          </a:ln>
          <a:effectLst>
            <a:outerShdw sx="100000" sy="100000" kx="0" ky="0" algn="bl" rotWithShape="0" blurRad="2.5175237488134e+25" dist="6.2938093720335e+24" dir="4.19904e+30">
              <a:srgbClr val="8FA0B5">
                <a:alpha val="3.2e+2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48472" y="2212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Trí tuệ nhân tạo (AI)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2743200"/>
            <a:ext cx="27614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AF0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AF0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AF0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AF0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VAPI — voice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48472" y="5230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7D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 provider: chấm viết, đánh giá phát âm, trợ lý chat, hội thoại giọng nói.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3 — CƠ SỞ DỮ LIỆU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kế CSDL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(rút gọn)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4884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4.366135412293574e+41" dist="1.0915338530733935e+41" dir="5.44195584e+49">
              <a:srgbClr val="A9B6C7">
                <a:alpha val="2.8000000000000003e+49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· điểm · OTP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0" y="2606040"/>
            <a:ext cx="41148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57600" y="214884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5.544991973612839e+45" dist="1.3862479934032098e+45" dir="3.2651735040000005e+54">
              <a:srgbClr val="A9B6C7">
                <a:alpha val="2.8e+5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Classroom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· mã mời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89320" y="2606040"/>
            <a:ext cx="41148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446520" y="214884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7.042139806488305e+49" dist="1.7605349516220764e+49" dir="1.9591041024000004e+59">
              <a:srgbClr val="A9B6C7">
                <a:alpha val="2.8000000000000002e+59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+ grammar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78240" y="2606040"/>
            <a:ext cx="411480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235440" y="214884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8.943517554240149e+53" dist="2.235879388560037e+53" dir="1.1754624614400003e+64">
              <a:srgbClr val="A9B6C7">
                <a:alpha val="2.8e+6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ExamAttempt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làm · điểm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52044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AF2DD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1.1358267293884988e+58" dist="2.839566823471247e+57" dir="7.052774768640002e+68">
              <a:srgbClr val="A9B6C7">
                <a:alpha val="2.8000000000000002e+69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 kỹ năng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Listen·Read·Write·Speak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352044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AF2DD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1.4424999463233936e+62" dist="3.606249865808484e+61" dir="4.2316648611840007e+73">
              <a:srgbClr val="A9B6C7">
                <a:alpha val="2.8e+7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từ vựng · SRS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AF2DD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1.83197493183071e+66" dist="4.579937329576775e+65" dir="2.5389989167104004e+78">
              <a:srgbClr val="A9B6C7">
                <a:alpha val="2.8e+79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FCM · socket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52044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AF2DD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2.3266081634250016e+70" dist="5.816520408562504e+69" dir="1.5233993500262402e+83">
              <a:srgbClr val="A9B6C7">
                <a:alpha val="2.8000000000000002e+8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TeacherApplication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đơn xin làm GV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5074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pPr algn="ctr" indent="0" marL="0">
              <a:buNone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Mongoose models — tổ chức quanh 5 nhóm: tài khoản · lớp/thi · nội dung 5 kỹ năng · tiến độ · vận hành.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4 — CHỨC NĂNG · HỌC SINH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sinh: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4 kỹ năng + AI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11680"/>
            <a:ext cx="2743200" cy="379476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9050">
            <a:solidFill>
              <a:srgbClr val="C59D48"/>
            </a:solidFill>
            <a:prstDash val="dash"/>
          </a:ln>
          <a:effectLst>
            <a:outerShdw sx="100000" sy="100000" kx="0" ky="0" algn="bl" rotWithShape="0" blurRad="2.954792367549752e+74" dist="7.38698091887438e+73" dir="9.14039610015744e+87">
              <a:srgbClr val="A9B6C7">
                <a:alpha val="2.8000000000000004e+8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011680"/>
            <a:ext cx="23774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32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CHÈN ẢNH MOBILE</a:t>
            </a:r>
            <a:endParaRPr lang="en-US" sz="32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học sinh (4 kỹ năng + streak/điểm) hoặc màn Viết có AI feedback (diff text).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840480" y="2011680"/>
            <a:ext cx="365760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3.752586306788185e+78" dist="9.381465766970462e+77" dir="5.484237660094465e+92">
              <a:srgbClr val="A9B6C7">
                <a:alpha val="2.8000000000000004e+9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2011680"/>
            <a:ext cx="82296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3" name="Text 11"/>
          <p:cNvSpPr/>
          <p:nvPr/>
        </p:nvSpPr>
        <p:spPr>
          <a:xfrm>
            <a:off x="4059936" y="2130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🎧  Nghe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59936" y="251460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Dictation điền chỗ trống + nghe hiểu MCQ, transcript theo cue.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2011680"/>
            <a:ext cx="365760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4.765784609620995e+82" dist="1.1914461524052487e+82" dir="3.2905425960566786e+97">
              <a:srgbClr val="A9B6C7">
                <a:alpha val="2.8000000000000003e+9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35240" y="2011680"/>
            <a:ext cx="82296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7" name="Text 15"/>
          <p:cNvSpPr/>
          <p:nvPr/>
        </p:nvSpPr>
        <p:spPr>
          <a:xfrm>
            <a:off x="7854696" y="2130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 Nói   [AI · VAPI]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54696" y="251460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Read-aloud chấm WER (STT) + hội thoại tự do voice-AI.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0" y="3246120"/>
            <a:ext cx="365760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.052546454218663e+86" dist="1.5131366135546659e+86" dir="1.9743255576340073e+102">
              <a:srgbClr val="A9B6C7">
                <a:alpha val="2.8000000000000003e+10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3246120"/>
            <a:ext cx="82296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21" name="Text 19"/>
          <p:cNvSpPr/>
          <p:nvPr/>
        </p:nvSpPr>
        <p:spPr>
          <a:xfrm>
            <a:off x="4059936" y="3364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Đọc   [AI]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59936" y="374904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đọc theo level + câu hỏi + phản hồi AI.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35240" y="3246120"/>
            <a:ext cx="365760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.6867339968577025e+90" dist="1.9216834992144256e+90" dir="1.1845953345804043e+107">
              <a:srgbClr val="A9B6C7">
                <a:alpha val="2.8e+10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35240" y="3246120"/>
            <a:ext cx="82296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25" name="Text 23"/>
          <p:cNvSpPr/>
          <p:nvPr/>
        </p:nvSpPr>
        <p:spPr>
          <a:xfrm>
            <a:off x="7854696" y="3364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✍️  Viết   [AI]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54696" y="374904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chấm grammar / structure / vocabulary + diff gợi ý sửa.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0" y="4480560"/>
            <a:ext cx="365760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9.762152176009283e+94" dist="2.4405380440023207e+94" dir="7.107572007482426e+111">
              <a:srgbClr val="A9B6C7">
                <a:alpha val="2.8e+11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0" y="4480560"/>
            <a:ext cx="82296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29" name="Text 27"/>
          <p:cNvSpPr/>
          <p:nvPr/>
        </p:nvSpPr>
        <p:spPr>
          <a:xfrm>
            <a:off x="4059936" y="4599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Từ vựng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059936" y="498348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Từ điển offline (SQLite) + word bank + ôn tập SRS.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35240" y="4480560"/>
            <a:ext cx="365760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.2397933263531789e+99" dist="3.099483315882947e+98" dir="4.2645432044894554e+116">
              <a:srgbClr val="A9B6C7">
                <a:alpha val="2.8e+119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35240" y="4480560"/>
            <a:ext cx="82296" cy="1143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3" name="Text 31"/>
          <p:cNvSpPr/>
          <p:nvPr/>
        </p:nvSpPr>
        <p:spPr>
          <a:xfrm>
            <a:off x="7854696" y="4599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Gamification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854696" y="498348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· streak · level · leaderboard · biểu đồ tuần.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4 — CHỨC NĂNG · GIÁO VIÊN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— Lớp —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Thi realtime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6596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1.574537524468537e+103" dist="3.9363438111713427e+102" dir="2.5587259226936733e+121">
              <a:srgbClr val="A9B6C7">
                <a:alpha val="2.8e+12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Tạo lớp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mã mời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4086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569464" y="196596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1.9996626560750422e+107" dist="4.9991566401876055e+106" dir="1.535235553616204e+126">
              <a:srgbClr val="A9B6C7">
                <a:alpha val="2.8e+129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Soạn đề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skills+grammar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2394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52544" y="196596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2.5395715732153033e+111" dist="6.348928933038258e+110" dir="9.211413321697224e+130">
              <a:srgbClr val="A9B6C7">
                <a:alpha val="2.8e+13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bài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/ link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0702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135624" y="196596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AF2DD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3.2252558979834354e+115" dist="8.063139744958588e+114" dir="5.526847993018334e+135">
              <a:srgbClr val="A9B6C7">
                <a:alpha val="2.8e+139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 realtime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lobby→live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9010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918704" y="196596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4.0960749904389626e+119" dist="1.0240187476097407e+119" dir="3.3161087958110005e+140">
              <a:srgbClr val="A9B6C7">
                <a:alpha val="2.7999999999999997e+144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auto+AI+GV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73184" y="2395728"/>
            <a:ext cx="192024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701784" y="1965960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DDE3EC"/>
            </a:solidFill>
          </a:ln>
          <a:effectLst>
            <a:outerShdw sx="100000" sy="100000" kx="0" ky="0" algn="bl" rotWithShape="0" blurRad="5.2020152378574823e+123" dist="1.3005038094643706e+123" dir="1.9896652774866004e+145">
              <a:srgbClr val="A9B6C7">
                <a:alpha val="2.8e+149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Gradebook</a:t>
            </a:r>
            <a:endParaRPr lang="en-US" sz="15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3246120"/>
            <a:ext cx="5943600" cy="2606040"/>
          </a:xfrm>
          <a:prstGeom prst="roundRect">
            <a:avLst>
              <a:gd name="adj" fmla="val 3158"/>
            </a:avLst>
          </a:prstGeom>
          <a:solidFill>
            <a:srgbClr val="F5F7FA"/>
          </a:solidFill>
          <a:ln w="19050">
            <a:solidFill>
              <a:srgbClr val="C59D48"/>
            </a:solidFill>
            <a:prstDash val="dash"/>
          </a:ln>
          <a:effectLst>
            <a:outerShdw sx="100000" sy="100000" kx="0" ky="0" algn="bl" rotWithShape="0" blurRad="6.606559352079002e+127" dist="1.6516398380197506e+127" dir="1.1937991664919603e+150">
              <a:srgbClr val="A9B6C7">
                <a:alpha val="2.8e+15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246120"/>
            <a:ext cx="5577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32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b="1" spc="2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CHÈN ẢNH WEB / TABLET</a:t>
            </a:r>
            <a:endParaRPr lang="en-US" sz="3200" dirty="0"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Live monitor phiên thi (danh sách học sinh + trạng thái) hoặc màn Gradebook chấm điểm.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40880" y="3383280"/>
            <a:ext cx="4343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 realtime qua Socket.IO: lobby → live → kết thúc; giáo viên giám sát màn hình học sinh.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Chấm: auto (MCQ) · AI nháp (viết/nói) · giáo viên chốt điểm.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Chống gian lận: theo dõi rời tab &amp; copy-paste.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4 — CHỨC NĂNG · ADMIN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&amp;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phát hành app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75688"/>
            <a:ext cx="164592" cy="164592"/>
          </a:xfrm>
          <a:prstGeom prst="rect">
            <a:avLst/>
          </a:prstGeom>
          <a:solidFill>
            <a:srgbClr val="213D65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1956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nền tảng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 nội dung cho cả 5 kỹ năng (bài giáo viên chọn khi soạn đề).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user (ban/unban) · duyệt đơn giáo viên.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Moderation báo cáo vi phạm · audit log hành động admin.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075688"/>
            <a:ext cx="164592" cy="164592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3" name="Text 11"/>
          <p:cNvSpPr/>
          <p:nvPr/>
        </p:nvSpPr>
        <p:spPr>
          <a:xfrm>
            <a:off x="6647688" y="1956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cập nhật app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651760"/>
            <a:ext cx="10972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13D65"/>
            </a:solidFill>
          </a:ln>
          <a:effectLst>
            <a:outerShdw sx="100000" sy="100000" kx="0" ky="0" algn="bl" rotWithShape="0" blurRad="8.390330377140333e+131" dist="2.097582594285083e+131" dir="7.162794998951762e+154">
              <a:srgbClr val="A9B6C7">
                <a:alpha val="2.8e+159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61504" y="2907792"/>
            <a:ext cx="201168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671816" y="2651760"/>
            <a:ext cx="1097280" cy="512064"/>
          </a:xfrm>
          <a:prstGeom prst="roundRect">
            <a:avLst>
              <a:gd name="adj" fmla="val 50000"/>
            </a:avLst>
          </a:prstGeom>
          <a:solidFill>
            <a:srgbClr val="C59D48"/>
          </a:solidFill>
          <a:ln w="15875">
            <a:solidFill>
              <a:srgbClr val="C59D48"/>
            </a:solidFill>
          </a:ln>
          <a:effectLst>
            <a:outerShdw sx="100000" sy="100000" kx="0" ky="0" algn="bl" rotWithShape="0" blurRad="1.0655719578968222e+136" dist="2.6639298947420556e+135" dir="4.297676999371057e+159">
              <a:srgbClr val="A9B6C7">
                <a:alpha val="2.8e+164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78240" y="2907792"/>
            <a:ext cx="201168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988552" y="2651760"/>
            <a:ext cx="10972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13D65"/>
            </a:solidFill>
          </a:ln>
          <a:effectLst>
            <a:outerShdw sx="100000" sy="100000" kx="0" ky="0" algn="bl" rotWithShape="0" blurRad="1.3532763865289643e+140" dist="3.3831909663224106e+139" dir="2.5786061996226343e+164">
              <a:srgbClr val="A9B6C7">
                <a:alpha val="2.8e+169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094976" y="2907792"/>
            <a:ext cx="201168" cy="0"/>
          </a:xfrm>
          <a:prstGeom prst="line">
            <a:avLst/>
          </a:prstGeom>
          <a:noFill/>
          <a:ln w="31750">
            <a:solidFill>
              <a:srgbClr val="C59D4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305288" y="2651760"/>
            <a:ext cx="1097280" cy="512064"/>
          </a:xfrm>
          <a:prstGeom prst="roundRect">
            <a:avLst>
              <a:gd name="adj" fmla="val 50000"/>
            </a:avLst>
          </a:prstGeom>
          <a:solidFill>
            <a:srgbClr val="213D65"/>
          </a:solidFill>
          <a:ln w="15875">
            <a:solidFill>
              <a:srgbClr val="213D65"/>
            </a:solidFill>
          </a:ln>
          <a:effectLst>
            <a:outerShdw sx="100000" sy="100000" kx="0" ky="0" algn="bl" rotWithShape="0" blurRad="1.7186610108917847e+144" dist="4.296652527229462e+143" dir="1.5471637197735807e+169">
              <a:srgbClr val="A9B6C7">
                <a:alpha val="2.8000000000000004e+174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36118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tạo candidate → admin duyệt / publish / rollback.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kiểm phiên bản → cập nhật in-app (soft / force).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4 — ĐIỂM NHẤN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nổi bật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kỹ thuật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1168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3.197255160993018e+29" dist="7.993137902482545e+28" dir="2.519424e+35">
              <a:srgbClr val="8FA0B5">
                <a:alpha val="3.2e+3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33272" y="2212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33272" y="2761488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thực chiến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3272" y="3145536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 viết, đánh giá phát âm (WER), trợ lý chat — đa provider + voice AI.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9976" y="201168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4.0605140544611325e+33" dist="1.0151285136152831e+33" dir="1.5116544e+40">
              <a:srgbClr val="8FA0B5">
                <a:alpha val="3.2e+3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36008" y="2212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36008" y="2761488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Socket.IO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6008" y="3145536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Phiên thi, giám sát, thông báo, bình luận — theo room, server-authoritative.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82712" y="201168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.156852849165638e+37" dist="1.2892132122914095e+37" dir="9.069926400000001e+44">
              <a:srgbClr val="8FA0B5">
                <a:alpha val="3.2e+4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38744" y="2212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38744" y="2761488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dual-token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38744" y="3145536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ngắn + refresh, interceptor tự gia hạn; RBAC theo permission.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02336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6.549203118440361e+41" dist="1.6373007796100902e+41" dir="5.44195584e+49">
              <a:srgbClr val="8FA0B5">
                <a:alpha val="3.2e+4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33272" y="42245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📴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33272" y="4773168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Hoạt động offline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3272" y="5157216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Từ điển SQLite ~5MB + secure storage token, chịu mất mạng.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79976" y="402336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.317487960419258e+45" dist="2.0793719901048145e+45" dir="3.2651735040000005e+54">
              <a:srgbClr val="8FA0B5">
                <a:alpha val="3.2e+54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36008" y="42245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36008" y="4773168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Đa ngôn ngữ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36008" y="5157216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/ VI hoàn chỉnh, ~1.000+ localization keys (ARB).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82712" y="402336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.0563209709732457e+50" dist="2.640802427433114e+49" dir="1.9591041024000004e+59">
              <a:srgbClr val="8FA0B5">
                <a:alpha val="3.2e+59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38744" y="42245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238744" y="4773168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Chất lượng code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38744" y="5157216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analyze: 0 error · 0 warning; Clean Architecture + DI.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D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0" y="-2377440"/>
            <a:ext cx="6400800" cy="6400800"/>
          </a:xfrm>
          <a:prstGeom prst="ellipse">
            <a:avLst/>
          </a:prstGeom>
          <a:solidFill>
            <a:srgbClr val="2B528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pPr indent="0" marL="0">
              <a:buNone/>
            </a:pPr>
            <a:r>
              <a:rPr lang="en-US" sz="5400" b="1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E355C"/>
          </a:solidFill>
          <a:ln w="12700">
            <a:solidFill>
              <a:srgbClr val="34528A"/>
            </a:solidFill>
            <a:prstDash val="solid"/>
          </a:ln>
          <a:effectLst>
            <a:outerShdw sx="100000" sy="100000" kx="0" ky="0" algn="bl" rotWithShape="0" blurRad="1.341527633136022e+54" dist="3.353819082840055e+53" dir="1.1754624614400003e+64">
              <a:srgbClr val="8FA0B5">
                <a:alpha val="3.1999999999999996e+6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8408" y="3493008"/>
            <a:ext cx="475488" cy="475488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8408" y="397764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học sinh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8408" y="4334256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6D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Home — điểm, streak, 4 kỹ năng.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3008" y="32918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E355C"/>
          </a:solidFill>
          <a:ln w="12700">
            <a:solidFill>
              <a:srgbClr val="34528A"/>
            </a:solidFill>
            <a:prstDash val="solid"/>
          </a:ln>
          <a:effectLst>
            <a:outerShdw sx="100000" sy="100000" kx="0" ky="0" algn="bl" rotWithShape="0" blurRad="1.7037400940827478e+58" dist="4.2593502352068695e+57" dir="7.052774768640002e+68">
              <a:srgbClr val="8FA0B5">
                <a:alpha val="3.1999999999999995e+6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94176" y="3493008"/>
            <a:ext cx="475488" cy="475488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94176" y="397764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Làm bài có AI chấm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94176" y="4334256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6D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Viết/Nói → nhận feedback AI tức thì.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08776" y="32918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E355C"/>
          </a:solidFill>
          <a:ln w="12700">
            <a:solidFill>
              <a:srgbClr val="34528A"/>
            </a:solidFill>
            <a:prstDash val="solid"/>
          </a:ln>
          <a:effectLst>
            <a:outerShdw sx="100000" sy="100000" kx="0" ky="0" algn="bl" rotWithShape="0" blurRad="2.16374991948509e+62" dist="5.409374798712724e+61" dir="4.2316648611840007e+73">
              <a:srgbClr val="8FA0B5">
                <a:alpha val="3.1999999999999994e+7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9944" y="3493008"/>
            <a:ext cx="475488" cy="475488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9944" y="397764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viên mở phiên thi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9944" y="4334256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6D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Lobby → live, giám sát realtime.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24544" y="32918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E355C"/>
          </a:solidFill>
          <a:ln w="12700">
            <a:solidFill>
              <a:srgbClr val="34528A"/>
            </a:solidFill>
            <a:prstDash val="solid"/>
          </a:ln>
          <a:effectLst>
            <a:outerShdw sx="100000" sy="100000" kx="0" ky="0" algn="bl" rotWithShape="0" blurRad="2.747962397746064e+66" dist="6.86990599436516e+65" dir="2.5389989167104004e+78">
              <a:srgbClr val="8FA0B5">
                <a:alpha val="3.1999999999999994e+7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25712" y="3493008"/>
            <a:ext cx="475488" cy="475488"/>
          </a:xfrm>
          <a:prstGeom prst="ellipse">
            <a:avLst/>
          </a:prstGeom>
          <a:solidFill>
            <a:srgbClr val="C59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25712" y="3977640"/>
            <a:ext cx="2203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Chấm &amp; phát điểm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25712" y="4334256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6D3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nháp → GV chốt → gradebook.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1663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D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Luôn có VIDEO quay sẵn 3–4 phút dự phòng — không phụ thuộc mạng/thiết bị tại hội đồng.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6 — ĐÁNH GIÁ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&amp;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quy mô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96596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3.4899122451375014e+70" dist="8.724780612843754e+69" dir="1.5233993500262402e+83">
              <a:srgbClr val="8FA0B5">
                <a:alpha val="3.1999999999999992e+8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96696" y="211226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110.200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14984" y="273405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dòng code · ~8 tháng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01568" y="196596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4.432188551324627e+74" dist="1.1080471378311567e+74" dir="9.14039610015744e+87">
              <a:srgbClr val="8FA0B5">
                <a:alpha val="3.1999999999999993e+8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21024" y="211226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39312" y="273405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Dart · 161 file JS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25896" y="196596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.628879460182276e+78" dist="1.407219865045569e+78" dir="5.484237660094465e+92">
              <a:srgbClr val="8FA0B5">
                <a:alpha val="3.1999999999999994e+9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45352" y="211226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63640" y="273405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models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50224" y="196596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.14867691443149e+82" dist="1.7871692286078725e+82" dir="3.2905425960566786e+97">
              <a:srgbClr val="8FA0B5">
                <a:alpha val="3.1999999999999995e+9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69680" y="211226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887968" y="273405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· 30 BLoC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29184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9.078819681327992e+86" dist="2.269704920331998e+86" dir="1.9743255576340073e+102">
              <a:srgbClr val="8FA0B5">
                <a:alpha val="3.1999999999999994e+10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6696" y="343814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014984" y="405993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API · 46 service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01568" y="329184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.153010099528655e+91" dist="2.8825252488216374e+90" dir="1.1845953345804043e+107">
              <a:srgbClr val="8FA0B5">
                <a:alpha val="3.1999999999999993e+10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21024" y="343814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639312" y="405993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kỹ năng · 3 vai trò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25896" y="329184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.4643228264013918e+95" dist="3.6608070660034796e+94" dir="7.107572007482426e+111">
              <a:srgbClr val="8FA0B5">
                <a:alpha val="3.1999999999999995e+11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45352" y="343814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263640" y="405993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(+ voice)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50224" y="3291840"/>
            <a:ext cx="2514600" cy="1188720"/>
          </a:xfrm>
          <a:prstGeom prst="roundRect">
            <a:avLst>
              <a:gd name="adj" fmla="val 5385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.8596899895297677e+99" dist="4.649224973824419e+98" dir="4.2645432044894554e+116">
              <a:srgbClr val="8FA0B5">
                <a:alpha val="3.1999999999999995e+119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69680" y="3438144"/>
            <a:ext cx="21122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/ 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887968" y="405993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/ warning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4800600"/>
            <a:ext cx="10607040" cy="1325880"/>
          </a:xfrm>
          <a:prstGeom prst="roundRect">
            <a:avLst>
              <a:gd name="adj" fmla="val 4828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2.361806286702805e+103" dist="5.904515716757012e+102" dir="2.5587259226936733e+121">
              <a:srgbClr val="8FA0B5">
                <a:alpha val="3.1999999999999995e+124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05840" y="49011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bố dòng code theo thành phần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05840" y="52669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(Dart)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108960" y="5285232"/>
            <a:ext cx="7680960" cy="310896"/>
          </a:xfrm>
          <a:prstGeom prst="roundRect">
            <a:avLst>
              <a:gd name="adj" fmla="val 11765"/>
            </a:avLst>
          </a:prstGeom>
          <a:solidFill>
            <a:srgbClr val="EDF1F7"/>
          </a:solidFill>
          <a:ln/>
        </p:spPr>
      </p:sp>
      <p:sp>
        <p:nvSpPr>
          <p:cNvPr id="37" name="Shape 35"/>
          <p:cNvSpPr/>
          <p:nvPr/>
        </p:nvSpPr>
        <p:spPr>
          <a:xfrm>
            <a:off x="3108960" y="5285232"/>
            <a:ext cx="7680960" cy="310896"/>
          </a:xfrm>
          <a:prstGeom prst="roundRect">
            <a:avLst>
              <a:gd name="adj" fmla="val 11765"/>
            </a:avLst>
          </a:prstGeom>
          <a:solidFill>
            <a:srgbClr val="213D65"/>
          </a:solidFill>
          <a:ln/>
        </p:spPr>
      </p:sp>
      <p:sp>
        <p:nvSpPr>
          <p:cNvPr id="38" name="Text 36"/>
          <p:cNvSpPr/>
          <p:nvPr/>
        </p:nvSpPr>
        <p:spPr>
          <a:xfrm>
            <a:off x="3108960" y="5285232"/>
            <a:ext cx="7571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89.800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5687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(Node.js)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108960" y="5705856"/>
            <a:ext cx="7680960" cy="310896"/>
          </a:xfrm>
          <a:prstGeom prst="roundRect">
            <a:avLst>
              <a:gd name="adj" fmla="val 11765"/>
            </a:avLst>
          </a:prstGeom>
          <a:solidFill>
            <a:srgbClr val="EDF1F7"/>
          </a:solidFill>
          <a:ln/>
        </p:spPr>
      </p:sp>
      <p:sp>
        <p:nvSpPr>
          <p:cNvPr id="41" name="Shape 39"/>
          <p:cNvSpPr/>
          <p:nvPr/>
        </p:nvSpPr>
        <p:spPr>
          <a:xfrm>
            <a:off x="3108960" y="5705856"/>
            <a:ext cx="1744895" cy="310896"/>
          </a:xfrm>
          <a:prstGeom prst="roundRect">
            <a:avLst>
              <a:gd name="adj" fmla="val 11765"/>
            </a:avLst>
          </a:prstGeom>
          <a:solidFill>
            <a:srgbClr val="C59D48"/>
          </a:solidFill>
          <a:ln/>
        </p:spPr>
      </p:sp>
      <p:sp>
        <p:nvSpPr>
          <p:cNvPr id="42" name="Text 40"/>
          <p:cNvSpPr/>
          <p:nvPr/>
        </p:nvSpPr>
        <p:spPr>
          <a:xfrm>
            <a:off x="4963583" y="57058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20.400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5029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6 — ĐÁNH GIÁ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85953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Hạn chế &amp; </a:t>
            </a:r>
            <a:pPr indent="0" marL="0">
              <a:buNone/>
            </a:pPr>
            <a:r>
              <a:rPr lang="en-US" sz="3400" b="1" dirty="0">
                <a:solidFill>
                  <a:srgbClr val="213D65"/>
                </a:solidFill>
                <a:highlight>
                  <a:srgbClr val="E7D6A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phát triển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795528" y="1591056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075688"/>
            <a:ext cx="164592" cy="164592"/>
          </a:xfrm>
          <a:prstGeom prst="rect">
            <a:avLst/>
          </a:prstGeom>
          <a:solidFill>
            <a:srgbClr val="213D65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1956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Hạn chế hiện tại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Chưa có test tự động E2E (mới kiểm thử thủ công / QA).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mới một phần (có Firebase Hosting workflow).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Chưa triển khai iOS (cần Apple Developer + TestFlight).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cho giáo viên / admin còn cơ bản.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2075688"/>
            <a:ext cx="164592" cy="164592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3" name="Text 11"/>
          <p:cNvSpPr/>
          <p:nvPr/>
        </p:nvSpPr>
        <p:spPr>
          <a:xfrm>
            <a:off x="6647688" y="19568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D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phát triển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6060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Bổ sung unit / integration / E2E test + CI/CD đầy đủ.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phân tích học tập cho giáo viên / admin.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Tối ưu hiệu năng: lazy-load, phân trang.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B2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rộng kho nội dung &amp; phát hành iOS.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0" y="36576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213D65"/>
          </a:solidFill>
          <a:ln w="19050">
            <a:solidFill>
              <a:srgbClr val="C59D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42823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E4C · English for Community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87000" y="6428232"/>
            <a:ext cx="1508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DB2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0" y="-2286000"/>
            <a:ext cx="6400800" cy="6400800"/>
          </a:xfrm>
          <a:prstGeom prst="ellipse">
            <a:avLst/>
          </a:prstGeom>
          <a:solidFill>
            <a:srgbClr val="2B528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59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960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95528" y="1691640"/>
            <a:ext cx="777240" cy="45720"/>
          </a:xfrm>
          <a:prstGeom prst="rect">
            <a:avLst/>
          </a:prstGeom>
          <a:solidFill>
            <a:srgbClr val="C59D4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94560"/>
            <a:ext cx="10424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600" dirty="0">
                <a:solidFill>
                  <a:srgbClr val="EAF0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Hoàn thành nền tảng production-ready, đã chạy thật trên domain riêng.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600" dirty="0">
                <a:solidFill>
                  <a:srgbClr val="EAF0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Đủ 3 vai trò · 5 kỹ năng · hệ thống lớp – thi – chấm realtime.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600" dirty="0">
                <a:solidFill>
                  <a:srgbClr val="EAF0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hợp AI vào chấm viết, phát âm, trợ lý &amp; hội thoại voice.</a:t>
            </a:r>
            <a:endParaRPr lang="en-US" sz="1600" dirty="0"/>
          </a:p>
          <a:p>
            <a:pPr marL="342900" indent="-342900">
              <a:buSzPct val="100000"/>
              <a:buChar char="▪"/>
            </a:pPr>
            <a:r>
              <a:rPr lang="en-US" sz="1600" dirty="0">
                <a:solidFill>
                  <a:srgbClr val="EAF0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Thể hiện năng lực full-stack end-to-end: DB → API → realtime → mobile UX.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892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Xin cảm ơn Hội đồng!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95528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D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xin sẵn sàng trả lời câu hỏi — Q&amp;A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English for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E4C — Slide bảo vệ khóa luận</dc:title>
  <dc:subject>PptxGenJS Presentation</dc:subject>
  <dc:creator>Phan Duy</dc:creator>
  <cp:lastModifiedBy>Phan Duy</cp:lastModifiedBy>
  <cp:revision>1</cp:revision>
  <dcterms:created xsi:type="dcterms:W3CDTF">2026-07-06T07:47:24Z</dcterms:created>
  <dcterms:modified xsi:type="dcterms:W3CDTF">2026-07-06T07:47:24Z</dcterms:modified>
</cp:coreProperties>
</file>