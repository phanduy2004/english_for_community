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5848" y="868680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Georgia" panose="02040502050405020303" pitchFamily="34" charset="0"/>
                <a:ea typeface="Segoe UI" panose="020B0502040204020203" pitchFamily="34" charset="-122"/>
                <a:cs typeface="Georgia" panose="02040502050405020303" pitchFamily="34" charset="0"/>
              </a:rPr>
              <a:t>BÁO CÁO KHÓA LUẬN TỐT NGHIỆP</a:t>
            </a:r>
            <a:endParaRPr lang="en-US" sz="1300" b="1" kern="0" spc="100" dirty="0">
              <a:solidFill>
                <a:srgbClr val="FFFFFF"/>
              </a:solidFill>
              <a:latin typeface="Georgia" panose="02040502050405020303" pitchFamily="34" charset="0"/>
              <a:ea typeface="Segoe UI" panose="020B0502040204020203" pitchFamily="34" charset="-122"/>
              <a:cs typeface="Georgia" panose="020405020504050203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0"/>
              </a:rPr>
              <a:t>English for Community</a:t>
            </a:r>
            <a:endParaRPr lang="en-US" sz="4600" b="1" dirty="0">
              <a:solidFill>
                <a:srgbClr val="0F172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dirty="0">
                <a:solidFill>
                  <a:srgbClr val="1E293B"/>
                </a:solidFill>
                <a:latin typeface="Georgia" panose="02040502050405020303" pitchFamily="34" charset="0"/>
                <a:ea typeface="Segoe UI" panose="020B0502040204020203" pitchFamily="34" charset="-122"/>
                <a:cs typeface="Georgia" panose="02040502050405020303" pitchFamily="34" charset="0"/>
              </a:rPr>
              <a:t>Nền tảng học tiếng Anh cộng đồng tích hợp AI</a:t>
            </a:r>
            <a:endParaRPr lang="en-US" sz="1900" dirty="0">
              <a:latin typeface="Georgia" panose="02040502050405020303" pitchFamily="34" charset="0"/>
              <a:cs typeface="Georgia" panose="02040502050405020303" pitchFamily="34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900" dirty="0">
                <a:solidFill>
                  <a:srgbClr val="1E293B"/>
                </a:solidFill>
                <a:latin typeface="Georgia" panose="02040502050405020303" pitchFamily="34" charset="0"/>
                <a:ea typeface="Segoe UI" panose="020B0502040204020203" pitchFamily="34" charset="-122"/>
                <a:cs typeface="Georgia" panose="02040502050405020303" pitchFamily="34" charset="0"/>
              </a:rPr>
              <a:t>Web &amp; Mobile đa vai trò</a:t>
            </a:r>
            <a:endParaRPr lang="en-US" sz="1900" dirty="0">
              <a:latin typeface="Georgia" panose="02040502050405020303" pitchFamily="34" charset="0"/>
              <a:cs typeface="Georgia" panose="020405020504050203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8210" y="3886200"/>
            <a:ext cx="10046335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67330" y="4107180"/>
            <a:ext cx="348869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Georgia" panose="02040502050405020303" pitchFamily="34" charset="0"/>
                <a:ea typeface="Segoe UI" panose="020B0502040204020203" pitchFamily="34" charset="-122"/>
                <a:cs typeface="Georgia" panose="02040502050405020303" pitchFamily="34" charset="0"/>
              </a:rPr>
              <a:t>SVTH: </a:t>
            </a:r>
            <a:r>
              <a:rPr lang="en-US" sz="1600" dirty="0">
                <a:solidFill>
                  <a:srgbClr val="1E293B"/>
                </a:solidFill>
                <a:latin typeface="Georgia" panose="02040502050405020303" pitchFamily="34" charset="0"/>
                <a:ea typeface="Segoe UI" panose="020B0502040204020203" pitchFamily="34" charset="-122"/>
                <a:cs typeface="Georgia" panose="02040502050405020303" pitchFamily="34" charset="0"/>
              </a:rPr>
              <a:t>Phan Tất Duy</a:t>
            </a:r>
            <a:endParaRPr lang="en-US" sz="1600" dirty="0">
              <a:latin typeface="Georgia" panose="02040502050405020303" pitchFamily="34" charset="0"/>
              <a:cs typeface="Georgia" panose="02040502050405020303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Georgia" panose="02040502050405020303" pitchFamily="34" charset="0"/>
                <a:ea typeface="Segoe UI" panose="020B0502040204020203" pitchFamily="34" charset="-122"/>
                <a:cs typeface="Georgia" panose="02040502050405020303" pitchFamily="34" charset="0"/>
              </a:rPr>
              <a:t>GVHD: TS. Lê Văn Vinh</a:t>
            </a:r>
            <a:endParaRPr lang="en-US" sz="1600" b="1" dirty="0">
              <a:solidFill>
                <a:srgbClr val="0F172A"/>
              </a:solidFill>
              <a:latin typeface="Georgia" panose="02040502050405020303" pitchFamily="34" charset="0"/>
              <a:ea typeface="Segoe UI" panose="020B0502040204020203" pitchFamily="34" charset="-122"/>
              <a:cs typeface="Georgia" panose="020405020504050203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33870" y="4107180"/>
            <a:ext cx="4794885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Georgia" panose="02040502050405020303" pitchFamily="34" charset="0"/>
                <a:ea typeface="Segoe UI" panose="020B0502040204020203" pitchFamily="34" charset="-122"/>
                <a:cs typeface="Georgia" panose="02040502050405020303" pitchFamily="34" charset="0"/>
              </a:rPr>
              <a:t>Đơn vị: </a:t>
            </a:r>
            <a:r>
              <a:rPr lang="en-US" sz="1600" dirty="0">
                <a:solidFill>
                  <a:srgbClr val="1E293B"/>
                </a:solidFill>
                <a:latin typeface="Georgia" panose="02040502050405020303" pitchFamily="34" charset="0"/>
                <a:ea typeface="Segoe UI" panose="020B0502040204020203" pitchFamily="34" charset="-122"/>
                <a:cs typeface="Georgia" panose="02040502050405020303" pitchFamily="34" charset="0"/>
              </a:rPr>
              <a:t>Khoa CNTT - HCMUTE</a:t>
            </a:r>
            <a:endParaRPr lang="en-US" sz="1600" dirty="0">
              <a:latin typeface="Georgia" panose="02040502050405020303" pitchFamily="34" charset="0"/>
              <a:cs typeface="Georgia" panose="02040502050405020303" pitchFamily="34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Georgia" panose="02040502050405020303" pitchFamily="34" charset="0"/>
                <a:ea typeface="Segoe UI" panose="020B0502040204020203" pitchFamily="34" charset="-122"/>
                <a:cs typeface="Georgia" panose="02040502050405020303" pitchFamily="34" charset="0"/>
              </a:rPr>
              <a:t>Thời gian: </a:t>
            </a:r>
            <a:r>
              <a:rPr lang="en-US" sz="1600" dirty="0">
                <a:solidFill>
                  <a:srgbClr val="1E293B"/>
                </a:solidFill>
                <a:latin typeface="Georgia" panose="02040502050405020303" pitchFamily="34" charset="0"/>
                <a:ea typeface="Segoe UI" panose="020B0502040204020203" pitchFamily="34" charset="-122"/>
                <a:cs typeface="Georgia" panose="02040502050405020303" pitchFamily="34" charset="0"/>
              </a:rPr>
              <a:t>07/2026</a:t>
            </a:r>
            <a:endParaRPr lang="en-US" sz="1600" dirty="0">
              <a:solidFill>
                <a:srgbClr val="1E293B"/>
              </a:solidFill>
              <a:latin typeface="Georgia" panose="02040502050405020303" pitchFamily="34" charset="0"/>
              <a:ea typeface="Segoe UI" panose="020B0502040204020203" pitchFamily="34" charset="-122"/>
              <a:cs typeface="Georgia" panose="020405020504050203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91840" y="5138928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898648" y="5230368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Georgia" panose="02040502050405020303" pitchFamily="34" charset="0"/>
                <a:ea typeface="Segoe UI" panose="020B0502040204020203" pitchFamily="34" charset="-122"/>
                <a:cs typeface="Georgia" panose="02040502050405020303" pitchFamily="34" charset="0"/>
              </a:rPr>
              <a:t>🔗  english4community.online</a:t>
            </a:r>
            <a:endParaRPr lang="en-US" sz="1400" b="1" dirty="0">
              <a:solidFill>
                <a:srgbClr val="3B82F6"/>
              </a:solidFill>
              <a:latin typeface="Georgia" panose="02040502050405020303" pitchFamily="34" charset="0"/>
              <a:ea typeface="Segoe UI" panose="020B0502040204020203" pitchFamily="34" charset="-122"/>
              <a:cs typeface="Georgia" panose="02040502050405020303" pitchFamily="34" charset="0"/>
            </a:endParaRPr>
          </a:p>
        </p:txBody>
      </p:sp>
      <p:pic>
        <p:nvPicPr>
          <p:cNvPr id="10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ĐẶT VẤN ĐỀ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Vấn đề &amp; Mục tiêu đề tài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Shape 4"/>
          <p:cNvSpPr/>
          <p:nvPr/>
        </p:nvSpPr>
        <p:spPr>
          <a:xfrm>
            <a:off x="548640" y="18745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EF2F2"/>
          </a:solidFill>
        </p:spPr>
      </p:sp>
      <p:sp>
        <p:nvSpPr>
          <p:cNvPr id="7" name="Shape 5"/>
          <p:cNvSpPr/>
          <p:nvPr/>
        </p:nvSpPr>
        <p:spPr>
          <a:xfrm>
            <a:off x="548640" y="1874520"/>
            <a:ext cx="73152" cy="37033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8" name="Text 6"/>
          <p:cNvSpPr/>
          <p:nvPr/>
        </p:nvSpPr>
        <p:spPr>
          <a:xfrm>
            <a:off x="822960" y="210312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91C1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⚠  Vấn đề đặt ra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489204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7F1D1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Người học cần 4 kỹ năng nhưng công cụ rời rạc.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7F1D1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App phổ biến ít gắn kết với lớp học/giáo viên thật.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7F1D1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chưa được tích hợp sâu vào quy trình chấm bài (Viết/Nói).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0FDF4"/>
          </a:solidFill>
        </p:spPr>
      </p:sp>
      <p:sp>
        <p:nvSpPr>
          <p:cNvPr id="11" name="Shape 9"/>
          <p:cNvSpPr/>
          <p:nvPr/>
        </p:nvSpPr>
        <p:spPr>
          <a:xfrm>
            <a:off x="6263640" y="1874520"/>
            <a:ext cx="73152" cy="37033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6537960" y="210312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47857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🎯  Mục tiêu giải quyết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89204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064E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Xây dựng nền tảng Full-stack: 4 kỹ năng + Từ vựng.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064E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Hỗ trợ 3 vai trò: Học sinh (Mobile), Giáo viên (Web), Admin.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064E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Tích hợp AI chấm tự động và tổ chức thi Realtime.</a:t>
            </a:r>
            <a:endParaRPr lang="en-US" sz="1500" dirty="0"/>
          </a:p>
        </p:txBody>
      </p:sp>
      <p:pic>
        <p:nvPicPr>
          <p:cNvPr id="14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KHẢO SÁT HIỆN TRẠNG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Giải pháp hiện có &amp; Điểm khác biệt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874520"/>
          <a:ext cx="11064240" cy="2788920"/>
        </p:xfrm>
        <a:graphic>
          <a:graphicData uri="http://schemas.openxmlformats.org/drawingml/2006/table">
            <a:tbl>
              <a:tblPr/>
              <a:tblGrid>
                <a:gridCol w="3383280"/>
                <a:gridCol w="1783080"/>
                <a:gridCol w="1783080"/>
                <a:gridCol w="2057400"/>
                <a:gridCol w="205740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Tiêu chí đánh giá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Duolingo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ELSA Speak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Google Classroom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Hệ thống E4C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Luyện đủ 4 kỹ năng tiếng Anh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Một phần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Chỉ Nói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✗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✓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AI chấm bài Viết / Phát âm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✗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Chỉ Phát âm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✗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✓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Tổ chức Lớp học &amp; Giáo viên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✗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✗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✓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✓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Soạn đề &amp; Thi trực tuyến Realtime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✗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✗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Cơ bản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✓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Đa vai trò trong 1 ứng dụng</a:t>
                      </a:r>
                      <a:endParaRPr lang="en-US" sz="13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✗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✗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F4444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✗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✓</a:t>
                      </a:r>
                      <a:endParaRPr lang="en-US" sz="16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💡  E4C kết hợp giữa tự học (có AI) và hệ thống lớp học/thi trực tuyến (Realtime) trong một nền tảng duy nhất.</a:t>
            </a:r>
            <a:endParaRPr lang="en-US" sz="1400" dirty="0"/>
          </a:p>
        </p:txBody>
      </p:sp>
      <p:pic>
        <p:nvPicPr>
          <p:cNvPr id="8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PHÂN TÍCH YÊU CẦU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Kiến trúc Đa vai trò (RBAC)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Shape 4"/>
          <p:cNvSpPr/>
          <p:nvPr/>
        </p:nvSpPr>
        <p:spPr>
          <a:xfrm>
            <a:off x="548640" y="1874520"/>
            <a:ext cx="1106424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2514600"/>
            <a:ext cx="1005840" cy="1005840"/>
          </a:xfrm>
          <a:prstGeom prst="ellipse">
            <a:avLst/>
          </a:prstGeom>
          <a:solidFill>
            <a:srgbClr val="F8FAFC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514600"/>
            <a:ext cx="1005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JWT Login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88920" y="2743200"/>
            <a:ext cx="822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</a:rPr>
              <a:t>⇄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977640" y="2148840"/>
            <a:ext cx="73152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2148840"/>
            <a:ext cx="73152" cy="9144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3" name="Text 11"/>
          <p:cNvSpPr/>
          <p:nvPr/>
        </p:nvSpPr>
        <p:spPr>
          <a:xfrm>
            <a:off x="4160520" y="2148840"/>
            <a:ext cx="822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0" y="2276856"/>
            <a:ext cx="6035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Học sinh (Mobile)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642616"/>
            <a:ext cx="6035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Home: Học 4 kỹ năng + Nhận AI Feedback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77640" y="3200400"/>
            <a:ext cx="73152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3200400"/>
            <a:ext cx="73152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4160520" y="3200400"/>
            <a:ext cx="822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🧑‍🏫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29200" y="3328416"/>
            <a:ext cx="6035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Giáo viên (Web/Tablet)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694176"/>
            <a:ext cx="6035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Dashboard: Quản lý lớp, Ra đề, Theo dõi thi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77640" y="4251960"/>
            <a:ext cx="73152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4251960"/>
            <a:ext cx="73152" cy="9144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4160520" y="4251960"/>
            <a:ext cx="822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29200" y="4379976"/>
            <a:ext cx="6035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Admin (Web)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4745736"/>
            <a:ext cx="6035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Console: Quản trị nội dung CMS, Vận hành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🛡  Bảo mật 2 lớp: </a:t>
            </a:r>
            <a:r>
              <a:rPr lang="en-US" sz="14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Server (JWT + RBAC Middleware) + Client (GoRouter Redirect)</a:t>
            </a:r>
            <a:endParaRPr lang="en-US" sz="1400" dirty="0"/>
          </a:p>
        </p:txBody>
      </p:sp>
      <p:pic>
        <p:nvPicPr>
          <p:cNvPr id="27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THIẾT KẾ HỆ THỐNG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Kiến trúc Tổng thể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Shape 4"/>
          <p:cNvSpPr/>
          <p:nvPr/>
        </p:nvSpPr>
        <p:spPr>
          <a:xfrm>
            <a:off x="548640" y="1874520"/>
            <a:ext cx="3154680" cy="37033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874520"/>
            <a:ext cx="3081528" cy="82296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8" name="Text 6"/>
          <p:cNvSpPr/>
          <p:nvPr/>
        </p:nvSpPr>
        <p:spPr>
          <a:xfrm>
            <a:off x="548640" y="2057400"/>
            <a:ext cx="3154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Flutter Client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65176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Hỗ trợ Mobile &amp; Web.</a:t>
            </a:r>
            <a:endParaRPr lang="en-US" sz="13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Clean Architecture: UI → BLoC → Repository → Datasource.</a:t>
            </a:r>
            <a:endParaRPr lang="en-US" sz="13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Routing: go_router.</a:t>
            </a:r>
            <a:endParaRPr lang="en-US" sz="13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Dependency Injection: get_it.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383280"/>
            <a:ext cx="777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3154680" cy="37033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9976" y="1874520"/>
            <a:ext cx="3081528" cy="82296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14" name="Text 12"/>
          <p:cNvSpPr/>
          <p:nvPr/>
        </p:nvSpPr>
        <p:spPr>
          <a:xfrm>
            <a:off x="4343400" y="2057400"/>
            <a:ext cx="3154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🖥️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343400" y="269748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Node.js Backend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17720" y="3291840"/>
            <a:ext cx="265176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Framework: Express.js</a:t>
            </a:r>
            <a:endParaRPr lang="en-US" sz="13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Kiến trúc MVC + Service Layer.</a:t>
            </a:r>
            <a:endParaRPr lang="en-US" sz="13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Middleware Auth/RBAC.</a:t>
            </a:r>
            <a:endParaRPr lang="en-US" sz="13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Background Jobs: node-cron.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52360" y="3383280"/>
            <a:ext cx="777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138160" y="1874520"/>
            <a:ext cx="3154680" cy="37033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74736" y="1874520"/>
            <a:ext cx="3081528" cy="8229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8138160" y="2057400"/>
            <a:ext cx="3154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138160" y="2697480"/>
            <a:ext cx="3154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Dữ liệu &amp; Dịch vụ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12480" y="3291840"/>
            <a:ext cx="265176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MongoDB Atlas: CSDL chính (Mongoose).</a:t>
            </a:r>
            <a:endParaRPr lang="en-US" sz="13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Cloudinary: Lưu trữ Audio/Ảnh.</a:t>
            </a:r>
            <a:endParaRPr lang="en-US" sz="13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3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Firebase: Auth, FCM (Push), Analytics.</a:t>
            </a:r>
            <a:endParaRPr lang="en-US" sz="1300" dirty="0"/>
          </a:p>
        </p:txBody>
      </p:sp>
      <p:pic>
        <p:nvPicPr>
          <p:cNvPr id="23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CÔNG NGHỆ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Tích hợp Trí tuệ Nhân tạo (AI)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548640" y="1965960"/>
            <a:ext cx="5669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🔧  Đa mô hình AI (Multi-Provider)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66928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6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Gemini &amp; OpenAI: Chấm điểm bài Viết, phân tích ngữ pháp, cấu trúc và gợi ý sửa lỗi chi tiết (diff text).</a:t>
            </a:r>
            <a:endParaRPr lang="en-US" sz="16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6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OpenAI (Whisper): Đánh giá phát âm (Speech-to-Text), tính tỷ lệ lỗi từ (WER).</a:t>
            </a:r>
            <a:endParaRPr lang="en-US" sz="16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6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Voice AI: Đóng vai người bản xứ thực hiện hội thoại tự 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210312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743200"/>
            <a:ext cx="5029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🤖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040880" y="3931920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Chèn Ảnh/Video minh họa AI chấm bài vào đây</a:t>
            </a:r>
            <a:endParaRPr lang="en-US" sz="1400" dirty="0"/>
          </a:p>
        </p:txBody>
      </p:sp>
      <p:pic>
        <p:nvPicPr>
          <p:cNvPr id="11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CƠ SỞ DỮ LIỆU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7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Thiết kế CSDL (32 Mongoose Models)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Dữ liệu được tối ưu cho NoSQL, chia thành 5 nhóm chính liên kết qua ObjectID.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" y="2377440"/>
            <a:ext cx="2532888" cy="8229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9" name="Text 7"/>
          <p:cNvSpPr/>
          <p:nvPr/>
        </p:nvSpPr>
        <p:spPr>
          <a:xfrm>
            <a:off x="749808" y="2560320"/>
            <a:ext cx="2240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👥  Tài khoản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3063240"/>
            <a:ext cx="22037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210312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User (role, điểm)</a:t>
            </a:r>
            <a:endParaRPr lang="en-US" sz="14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TeacherApplication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23774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4136" y="2377440"/>
            <a:ext cx="2532888" cy="8229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4" name="Text 12"/>
          <p:cNvSpPr/>
          <p:nvPr/>
        </p:nvSpPr>
        <p:spPr>
          <a:xfrm>
            <a:off x="3538728" y="2560320"/>
            <a:ext cx="2240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🏫  Lớp &amp; Thi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38728" y="3063240"/>
            <a:ext cx="22037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3246120"/>
            <a:ext cx="210312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Classroom (owner)</a:t>
            </a:r>
            <a:endParaRPr lang="en-US" sz="14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Exam (skills)</a:t>
            </a:r>
            <a:endParaRPr lang="en-US" sz="14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ExamAttempt (điểm)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23774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2377440"/>
            <a:ext cx="2532888" cy="8229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9" name="Text 17"/>
          <p:cNvSpPr/>
          <p:nvPr/>
        </p:nvSpPr>
        <p:spPr>
          <a:xfrm>
            <a:off x="6327648" y="2560320"/>
            <a:ext cx="2240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📚  Nội dung 4 KN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27648" y="3063240"/>
            <a:ext cx="22037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246120"/>
            <a:ext cx="210312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Listen / Read</a:t>
            </a:r>
            <a:endParaRPr lang="en-US" sz="14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Write / Speak</a:t>
            </a:r>
            <a:endParaRPr lang="en-US" sz="14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Word (Từ vựng)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15400" y="23774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51976" y="2377440"/>
            <a:ext cx="2532888" cy="8229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4" name="Text 22"/>
          <p:cNvSpPr/>
          <p:nvPr/>
        </p:nvSpPr>
        <p:spPr>
          <a:xfrm>
            <a:off x="9116568" y="2560320"/>
            <a:ext cx="2240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🔔  Vận hành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16568" y="3063240"/>
            <a:ext cx="220370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3246120"/>
            <a:ext cx="210312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Notification</a:t>
            </a:r>
            <a:endParaRPr lang="en-US" sz="14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FCM Tokens</a:t>
            </a:r>
            <a:endParaRPr lang="en-US" sz="1400" dirty="0"/>
          </a:p>
        </p:txBody>
      </p:sp>
      <p:pic>
        <p:nvPicPr>
          <p:cNvPr id="27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CHỨC NĂNG HỌC SINH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8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Giao diện Học sinh (Mobile)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548640" y="1965960"/>
            <a:ext cx="74980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6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🎧 Nghe: Dictation điền chỗ trống, MCQ, transcript đồng bộ audio.</a:t>
            </a:r>
            <a:endParaRPr lang="en-US" sz="16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6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🎙️ Nói: Read-aloud chấm phát âm (AI) &amp; Hội thoại tự do với Voice AI.</a:t>
            </a:r>
            <a:endParaRPr lang="en-US" sz="16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6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📖 Đọc &amp; ✍️ Viết: Bài đọc theo level; Viết luận được AI chấm ngữ pháp/cấu trúc tức thì.</a:t>
            </a:r>
            <a:endParaRPr lang="en-US" sz="16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6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📚 Từ vựng: Từ điển offline (SQLite) + ôn tập ngắt quãng (SRS).</a:t>
            </a:r>
            <a:endParaRPr lang="en-US" sz="16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6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🏆 Gamification: Tính điểm, streak liên tục, level, leaderboard.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95360" y="1965960"/>
            <a:ext cx="2651760" cy="3657600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635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3017520"/>
            <a:ext cx="2651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📱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778240" y="402336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Chèn ảnh App UI vào đây</a:t>
            </a:r>
            <a:endParaRPr lang="en-US" sz="1300" dirty="0"/>
          </a:p>
        </p:txBody>
      </p:sp>
      <p:pic>
        <p:nvPicPr>
          <p:cNvPr id="10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CHỨC NĂNG GIÁO VIÊN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9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Quản lý &amp; Thi Realtime (Web/Tablet)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Shape 4"/>
          <p:cNvSpPr/>
          <p:nvPr/>
        </p:nvSpPr>
        <p:spPr>
          <a:xfrm>
            <a:off x="548640" y="187452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057400"/>
            <a:ext cx="868680" cy="868680"/>
          </a:xfrm>
          <a:prstGeom prst="ellipse">
            <a:avLst/>
          </a:prstGeom>
          <a:solidFill>
            <a:srgbClr val="F8FAFC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057400"/>
            <a:ext cx="868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🧑‍🏫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Tạo lớp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73552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Mã mời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14884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023360" y="2057400"/>
            <a:ext cx="868680" cy="868680"/>
          </a:xfrm>
          <a:prstGeom prst="ellipse">
            <a:avLst/>
          </a:prstGeom>
          <a:solidFill>
            <a:srgbClr val="F8FAFC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057400"/>
            <a:ext cx="868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4720" y="297180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Soạn đề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273552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Kho kỹ năng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766560" y="2057400"/>
            <a:ext cx="868680" cy="868680"/>
          </a:xfrm>
          <a:prstGeom prst="ellipse">
            <a:avLst/>
          </a:prstGeom>
          <a:solidFill>
            <a:srgbClr val="F8FAFC"/>
          </a:solidFill>
          <a:ln w="317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057400"/>
            <a:ext cx="868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297180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Thi Realtime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273552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Lobby → Live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2148840"/>
            <a:ext cx="1371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509760" y="2057400"/>
            <a:ext cx="868680" cy="868680"/>
          </a:xfrm>
          <a:prstGeom prst="ellipse">
            <a:avLst/>
          </a:prstGeom>
          <a:solidFill>
            <a:srgbClr val="F8FAFC"/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2057400"/>
            <a:ext cx="8686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961120" y="2971800"/>
            <a:ext cx="1965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Chấm điểm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61120" y="3273552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nháp + GV chốt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794760"/>
            <a:ext cx="109728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6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Giám sát Realtime (Socket.IO): GV theo dõi danh sách học sinh online, trạng thái làm bài trực tiếp.</a:t>
            </a:r>
            <a:endParaRPr lang="en-US" sz="16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6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Hệ thống chấm hỗn hợp: Trắc nghiệm (Auto) + Tự luận (AI chấm nháp) + Giáo viên chốt điểm cuối.</a:t>
            </a:r>
            <a:endParaRPr lang="en-US" sz="16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6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Chống gian lận: Phát hiện học sinh rời khỏi màn hình/tab, copy-paste bài thi.</a:t>
            </a:r>
            <a:endParaRPr lang="en-US" sz="1600" dirty="0"/>
          </a:p>
        </p:txBody>
      </p:sp>
      <p:pic>
        <p:nvPicPr>
          <p:cNvPr id="27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CHỨC NĂNG ADMIN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10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Admin Console &amp; Vận hành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548640" y="1920240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⚙️  Quản trị Nền tảng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5394960" cy="3017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CMS Nội dung: Tạo và quản lý ngân hàng câu hỏi 5 kỹ năng cho giáo viên chọn.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Quản lý User: Ban/Unban tài khoản, xét duyệt đơn đăng ký làm giáo viên.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Moderation: Xử lý báo cáo vi phạm, lưu trữ Audit Log các hành động quan trọng.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1920240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☁️  Cập nhật App In-App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651760"/>
            <a:ext cx="493776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Luồng phát hành: </a:t>
            </a:r>
            <a:r>
              <a:rPr lang="en-US" sz="15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Pending → Approved → Published → Archived.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429000"/>
            <a:ext cx="48920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CI build candidate → Admin duyệt và publish bản mới.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Client kiểm tra version → Bắt buộc (Force) hoặc Gợi ý (Soft) cập nhật ngay trong App.</a:t>
            </a:r>
            <a:endParaRPr lang="en-US" sz="1500" dirty="0"/>
          </a:p>
        </p:txBody>
      </p:sp>
      <p:pic>
        <p:nvPicPr>
          <p:cNvPr id="12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ĐIỂM NHẤN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11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Điểm nổi bật về Kỹ thuật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Shape 4"/>
          <p:cNvSpPr/>
          <p:nvPr/>
        </p:nvSpPr>
        <p:spPr>
          <a:xfrm>
            <a:off x="548640" y="19659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965960"/>
            <a:ext cx="3355848" cy="8229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777240" y="2130552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1488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Realtime Socket.IO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679192"/>
            <a:ext cx="29260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Phòng chờ (Lobby), thi live, giám sát, thông báo theo room (server-authoritative).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60520" y="19659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97096" y="1965960"/>
            <a:ext cx="3355848" cy="8229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4389120" y="2130552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74920" y="21488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Dual-Token JWT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16552" y="2679192"/>
            <a:ext cx="29260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Access (ngắn) + Refresh, Dio interceptor tự gia hạn token. Phân quyền RBAC.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0" y="19659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08976" y="1965960"/>
            <a:ext cx="3355848" cy="8229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8" name="Text 16"/>
          <p:cNvSpPr/>
          <p:nvPr/>
        </p:nvSpPr>
        <p:spPr>
          <a:xfrm>
            <a:off x="8001000" y="2130552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📶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86800" y="21488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Offline Support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28432" y="2679192"/>
            <a:ext cx="29260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Từ điển SQLite (~5MB) + secure storage token, duy trì chức năng khi mất mạng.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350008" y="3794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386584" y="3794760"/>
            <a:ext cx="3355848" cy="82296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3" name="Text 21"/>
          <p:cNvSpPr/>
          <p:nvPr/>
        </p:nvSpPr>
        <p:spPr>
          <a:xfrm>
            <a:off x="2578608" y="3959352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264408" y="39776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Đa ngôn ngữ (i18n)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06040" y="4507992"/>
            <a:ext cx="29260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Hỗ trợ hoàn chỉnh EN/VI với hơn 1.000+ localization keys qua file ARB.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61888" y="37947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98464" y="3794760"/>
            <a:ext cx="3355848" cy="82296"/>
          </a:xfrm>
          <a:prstGeom prst="rect">
            <a:avLst/>
          </a:prstGeom>
          <a:solidFill>
            <a:srgbClr val="0284C7"/>
          </a:solidFill>
        </p:spPr>
      </p:sp>
      <p:sp>
        <p:nvSpPr>
          <p:cNvPr id="28" name="Text 26"/>
          <p:cNvSpPr/>
          <p:nvPr/>
        </p:nvSpPr>
        <p:spPr>
          <a:xfrm>
            <a:off x="6190488" y="3959352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876288" y="3977640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Code Quality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17920" y="4507992"/>
            <a:ext cx="29260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flutter analyze đạt 0 error, 0 warning. Tuân thủ Clean Architecture.</a:t>
            </a:r>
            <a:endParaRPr lang="en-US" sz="1250" dirty="0"/>
          </a:p>
        </p:txBody>
      </p:sp>
      <p:pic>
        <p:nvPicPr>
          <p:cNvPr id="31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DEMO SẢN PHẨM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12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Kịch bản Trình diễn (Demo)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Shape 4"/>
          <p:cNvSpPr/>
          <p:nvPr/>
        </p:nvSpPr>
        <p:spPr>
          <a:xfrm>
            <a:off x="548640" y="1965960"/>
            <a:ext cx="566928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🔢  Các bước Demo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516636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Đăng nhập: View giao diện Home học sinh, Streak.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 AI Thực chiến: Học sinh làm bài và nhận phản hồi lỗi sai ngay từ AI.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Tổ chức thi: GV mở phiên thi, học sinh vào Lobby, giám sát Realtime.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50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4. Chấm điểm: Hệ thống chấm tự động, AI chấm nháp tự luận, GV duyệt cuối.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210312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651760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EF4444"/>
                </a:solidFill>
              </a:rPr>
              <a:t>▶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858000" y="370332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Chèn Video Demo Dự Phòng (3-4 phút)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420624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F444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* Luôn chuẩn bị video offline tránh rủi ro mạng</a:t>
            </a:r>
            <a:endParaRPr lang="en-US" sz="1200" dirty="0"/>
          </a:p>
        </p:txBody>
      </p:sp>
      <p:pic>
        <p:nvPicPr>
          <p:cNvPr id="13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TỔNG KẾT DỰ ÁN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13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Quy mô &amp; Khối lượng công việc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Shape 4"/>
          <p:cNvSpPr/>
          <p:nvPr/>
        </p:nvSpPr>
        <p:spPr>
          <a:xfrm>
            <a:off x="548640" y="19202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148840"/>
            <a:ext cx="276148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110.200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761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Dòng code (8 tháng)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0128" y="2148840"/>
            <a:ext cx="276148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573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10128" y="2926080"/>
            <a:ext cx="2761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File Source 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2148840"/>
            <a:ext cx="276148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80760" y="2926080"/>
            <a:ext cx="2761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Mongoose Models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51392" y="2148840"/>
            <a:ext cx="276148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0/0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851392" y="2926080"/>
            <a:ext cx="27614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Error / Warning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Phân bổ theo thành phần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88720" y="4526280"/>
            <a:ext cx="7925105" cy="640080"/>
          </a:xfrm>
          <a:prstGeom prst="roundRect">
            <a:avLst>
              <a:gd name="adj" fmla="val 5714"/>
            </a:avLst>
          </a:prstGeom>
          <a:solidFill>
            <a:srgbClr val="0284C7"/>
          </a:solidFill>
        </p:spPr>
      </p:sp>
      <p:sp>
        <p:nvSpPr>
          <p:cNvPr id="17" name="Shape 15"/>
          <p:cNvSpPr/>
          <p:nvPr/>
        </p:nvSpPr>
        <p:spPr>
          <a:xfrm>
            <a:off x="9113825" y="4526280"/>
            <a:ext cx="1858975" cy="640080"/>
          </a:xfrm>
          <a:prstGeom prst="roundRect">
            <a:avLst>
              <a:gd name="adj" fmla="val 5714"/>
            </a:avLst>
          </a:prstGeom>
          <a:solidFill>
            <a:srgbClr val="16A34A"/>
          </a:solidFill>
        </p:spPr>
      </p:sp>
      <p:sp>
        <p:nvSpPr>
          <p:cNvPr id="18" name="Text 16"/>
          <p:cNvSpPr/>
          <p:nvPr/>
        </p:nvSpPr>
        <p:spPr>
          <a:xfrm>
            <a:off x="1188720" y="4526280"/>
            <a:ext cx="792510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Flutter (Dart) - 89.800 dòng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13825" y="4526280"/>
            <a:ext cx="185897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Node.js - 20.400</a:t>
            </a:r>
            <a:endParaRPr lang="en-US" sz="1200" dirty="0"/>
          </a:p>
        </p:txBody>
      </p:sp>
      <p:pic>
        <p:nvPicPr>
          <p:cNvPr id="20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82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E4C • ĐÁNH GIÁ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875520" y="329184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14 /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Hạn chế &amp; Hướng phát triển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6424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Shape 4"/>
          <p:cNvSpPr/>
          <p:nvPr/>
        </p:nvSpPr>
        <p:spPr>
          <a:xfrm>
            <a:off x="548640" y="18745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874520"/>
            <a:ext cx="5321808" cy="8229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8" name="Text 6"/>
          <p:cNvSpPr/>
          <p:nvPr/>
        </p:nvSpPr>
        <p:spPr>
          <a:xfrm>
            <a:off x="822960" y="210312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🐞  Hạn chế hiện tại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489204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Chưa có kiểm thử tự động (Unit/E2E), chủ yếu test thủ công.</a:t>
            </a:r>
            <a:endParaRPr lang="en-US" sz="145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Quy trình CI/CD mới triển khai một phần (Firebase Hosting).</a:t>
            </a:r>
            <a:endParaRPr lang="en-US" sz="145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Chưa publish lên iOS (cần Apple Developer Account).</a:t>
            </a:r>
            <a:endParaRPr lang="en-US" sz="145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Analytics cho Giáo viên/Admin còn ở mức cơ bản.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0216" y="1874520"/>
            <a:ext cx="5321808" cy="8229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6537960" y="210312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7857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📈  Hướng phát triển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89204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Viết thêm Unit/Integration Tests và hoàn thiện CI/CD.</a:t>
            </a:r>
            <a:endParaRPr lang="en-US" sz="145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Xây dựng Dashboard phân tích học tập chuyên sâu.</a:t>
            </a:r>
            <a:endParaRPr lang="en-US" sz="145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Tối ưu hiệu năng: Lazy-load, phân trang API.</a:t>
            </a:r>
            <a:endParaRPr lang="en-US" sz="145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Mở rộng kho nội dung và đưa ứng dụng lên App Store (iOS).</a:t>
            </a:r>
            <a:endParaRPr lang="en-US" sz="1450" dirty="0"/>
          </a:p>
        </p:txBody>
      </p:sp>
      <p:pic>
        <p:nvPicPr>
          <p:cNvPr id="14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✅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1417320"/>
            <a:ext cx="1219169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17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KẾT LUẬN ĐỀ TÀI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828800" y="2377440"/>
            <a:ext cx="8503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94560" y="2606040"/>
            <a:ext cx="786384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Hoàn thành hệ thống Production-ready, triển khai thực tế trên domain riêng.</a:t>
            </a:r>
            <a:endParaRPr lang="en-US" sz="145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Đáp ứng đủ 3 vai trò, 5 module nội dung, quy trình Lớp - Thi realtime khép kín.</a:t>
            </a:r>
            <a:endParaRPr lang="en-US" sz="145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Áp dụng thành công AI vào đánh giá năng lực ngôn ngữ (Viết/Phát âm) thực tiễn.</a:t>
            </a:r>
            <a:endParaRPr lang="en-US" sz="1450" dirty="0"/>
          </a:p>
          <a:p>
            <a:pPr marL="254000" indent="-254000">
              <a:lnSpc>
                <a:spcPct val="105000"/>
              </a:lnSpc>
              <a:spcAft>
                <a:spcPts val="1000"/>
              </a:spcAft>
              <a:buSzPct val="100000"/>
              <a:buChar char="➤"/>
            </a:pPr>
            <a:r>
              <a:rPr lang="en-US" sz="1450" dirty="0">
                <a:solidFill>
                  <a:srgbClr val="1E293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Minh chứng năng lực Full-stack End-to-End: Từ Database, API đến Mobile UX.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TRÂN TRỌNG CẢM ƠN HỘI ĐỒNG!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0" y="5532120"/>
            <a:ext cx="12191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Em xin phép được lắng nghe và trả lời câu hỏi — Q&amp;A</a:t>
            </a:r>
            <a:endParaRPr lang="en-US" sz="1600" dirty="0"/>
          </a:p>
        </p:txBody>
      </p:sp>
      <p:pic>
        <p:nvPicPr>
          <p:cNvPr id="8" name="Image 0" descr="D:/Workspace/english_for_community/docs/product/logo-hcmute-inkythuats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852160"/>
            <a:ext cx="658368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5925</Words>
  <Application>WPS Presentation</Application>
  <PresentationFormat>On-screen Show (16:9)</PresentationFormat>
  <Paragraphs>406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Segoe UI</vt:lpstr>
      <vt:lpstr>Segoe UI</vt:lpstr>
      <vt:lpstr>Segoe UI</vt:lpstr>
      <vt:lpstr>Georgia</vt:lpstr>
      <vt:lpstr>Georgia</vt:lpstr>
      <vt:lpstr>Georgia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khóa luận — E4C (editable)</dc:title>
  <dc:creator>Phan Duy</dc:creator>
  <dc:subject>PptxGenJS Presentation</dc:subject>
  <cp:lastModifiedBy>Tat Duy Phan</cp:lastModifiedBy>
  <cp:revision>3</cp:revision>
  <dcterms:created xsi:type="dcterms:W3CDTF">2026-07-06T09:38:00Z</dcterms:created>
  <dcterms:modified xsi:type="dcterms:W3CDTF">2026-07-06T10:30:15Z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23A43B2835B94096BF168BDA471073EC_12</vt:lpwstr>
  </property>
  <property fmtid="{D5CDD505-2E9C-101B-9397-08002B2CF9AE}" pid="3" name="KSOProductBuildVer">
    <vt:lpwstr>1033-12.1.0.26880</vt:lpwstr>
  </property>
</Properties>
</file>